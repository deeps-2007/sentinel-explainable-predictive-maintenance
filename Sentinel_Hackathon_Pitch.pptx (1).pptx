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mbria Bold" charset="1" panose="02040803050406030204"/>
      <p:regular r:id="rId21"/>
    </p:embeddedFont>
    <p:embeddedFont>
      <p:font typeface="Calibri (MS) Bold" charset="1" panose="020F0702030404030204"/>
      <p:regular r:id="rId22"/>
    </p:embeddedFont>
    <p:embeddedFont>
      <p:font typeface="Calibri (MS)" charset="1" panose="020F0502020204030204"/>
      <p:regular r:id="rId23"/>
    </p:embeddedFont>
    <p:embeddedFont>
      <p:font typeface="Calibri (MS) Italics" charset="1" panose="020F05020202040A0204"/>
      <p:regular r:id="rId25"/>
    </p:embeddedFont>
    <p:embeddedFont>
      <p:font typeface="Canva Sans" charset="1" panose="020B0503030501040103"/>
      <p:regular r:id="rId26"/>
    </p:embeddedFont>
    <p:embeddedFont>
      <p:font typeface="Canva Sans Bold" charset="1" panose="020B0803030501040103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3.xml" Type="http://schemas.openxmlformats.org/officeDocument/2006/relationships/notesSlide"/><Relationship Id="rId28" Target="notesSlides/notesSlide4.xml" Type="http://schemas.openxmlformats.org/officeDocument/2006/relationships/notes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6.xml" Type="http://schemas.openxmlformats.org/officeDocument/2006/relationships/notesSlide"/><Relationship Id="rId31" Target="notesSlides/notesSlide7.xml" Type="http://schemas.openxmlformats.org/officeDocument/2006/relationships/notesSlide"/><Relationship Id="rId32" Target="fonts/font32.fntdata" Type="http://schemas.openxmlformats.org/officeDocument/2006/relationships/font"/><Relationship Id="rId33" Target="notesSlides/notesSlide8.xml" Type="http://schemas.openxmlformats.org/officeDocument/2006/relationships/notesSlide"/><Relationship Id="rId34" Target="notesSlides/notesSlide9.xml" Type="http://schemas.openxmlformats.org/officeDocument/2006/relationships/notesSlide"/><Relationship Id="rId35" Target="notesSlides/notesSlide10.xml" Type="http://schemas.openxmlformats.org/officeDocument/2006/relationships/notesSlide"/><Relationship Id="rId36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Introduce each person with a one-line role. Edit teammate names on this slide before submitting. Clear role split signals we can execute.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Judges should feel the pain in 10 seconds: downtime is brutally expensive and most plants still react after the failure. Stats: Siemens True Cost of Downtime 2024.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Walk the 4-step flow left to right. Emphasise the difference: explainability plus a human-approved workflow, not just an alert.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Client, server, data, integrations. Python stays as a thin internal microservice because XGBoost and SHAP are Python-only. Be upfront that the dataset is simulated.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Follow the same order live: upload, fleet overview, explain, recommend and act. If the live demo hiccups, this slide proves the build works. Replace with real screenshots if you want pixel-accurate visuals.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If every team could describe our idea the same way it would not be distinct. Our edge is the full loop: predict, explain, simulate, assign, verify.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Be candid: XGBoost beats the logistic baseline, but precision is about 70 percent so some alerts are false alarms. Random failure (RNF) has only 8 positives in 10,000 rows, so no model can learn it. Self-awareness reads as maturity.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Show the math: hours avoided x cost per hour. The 10 hours is an assumption, labelled as such. Business model: per-machine monthly subscription, starting with pilots at MSME plants.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Two real challenges. First, bad input caused 500s and one silent wrong prediction, so we added validation and tests. Second, per-reading HTTP calls did not scale; batching fixed it. Round-trip numbers: about 2 calls x 10,000 versus 2 batch calls x 40 chunks.</a:t>
            </a:r>
          </a:p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Three concrete next steps, then the ask: feedback, a pilot introduction, incubation support. End confident and forward-looking.</a:t>
            </a:r>
          </a:p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Thank the judges, restate the tagline, put contact details and a GitHub QR on screen, then open the floor for Q&amp;A.</a:t>
            </a:r>
          </a:p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11" Target="../media/image9.jpe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jpe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10.png" Type="http://schemas.openxmlformats.org/officeDocument/2006/relationships/image"/><Relationship Id="rId5" Target="../media/image3.jpe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jpe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12.png" Type="http://schemas.openxmlformats.org/officeDocument/2006/relationships/image"/><Relationship Id="rId5" Target="../media/image3.jpe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pn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18.png" Type="http://schemas.openxmlformats.org/officeDocument/2006/relationships/image"/><Relationship Id="rId5" Target="../media/image3.jpe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25.png" Type="http://schemas.openxmlformats.org/officeDocument/2006/relationships/image"/><Relationship Id="rId5" Target="../media/image3.jpe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Relationship Id="rId8" Target="../media/image28.pn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30.png" Type="http://schemas.openxmlformats.org/officeDocument/2006/relationships/image"/><Relationship Id="rId5" Target="../media/image3.jpe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33.png" Type="http://schemas.openxmlformats.org/officeDocument/2006/relationships/image"/><Relationship Id="rId5" Target="../media/image3.jpeg" Type="http://schemas.openxmlformats.org/officeDocument/2006/relationships/image"/><Relationship Id="rId6" Target="../media/image3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35.png" Type="http://schemas.openxmlformats.org/officeDocument/2006/relationships/image"/><Relationship Id="rId5" Target="../media/image3.jpeg" Type="http://schemas.openxmlformats.org/officeDocument/2006/relationships/image"/><Relationship Id="rId6" Target="../media/image36.png" Type="http://schemas.openxmlformats.org/officeDocument/2006/relationships/image"/><Relationship Id="rId7" Target="../media/image37.png" Type="http://schemas.openxmlformats.org/officeDocument/2006/relationships/image"/><Relationship Id="rId8" Target="../media/image3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39.png" Type="http://schemas.openxmlformats.org/officeDocument/2006/relationships/image"/><Relationship Id="rId5" Target="../media/image3.jpeg" Type="http://schemas.openxmlformats.org/officeDocument/2006/relationships/image"/><Relationship Id="rId6" Target="../media/image40.pn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41.png" Type="http://schemas.openxmlformats.org/officeDocument/2006/relationships/image"/><Relationship Id="rId5" Target="../media/image3.jpeg" Type="http://schemas.openxmlformats.org/officeDocument/2006/relationships/image"/><Relationship Id="rId6" Target="../media/image12.png" Type="http://schemas.openxmlformats.org/officeDocument/2006/relationships/image"/><Relationship Id="rId7" Target="../media/image42.png" Type="http://schemas.openxmlformats.org/officeDocument/2006/relationships/image"/><Relationship Id="rId8" Target="../media/image36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43.png" Type="http://schemas.openxmlformats.org/officeDocument/2006/relationships/image"/><Relationship Id="rId4" Target="../media/image3.jpe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46.png" Type="http://schemas.openxmlformats.org/officeDocument/2006/relationships/image"/><Relationship Id="rId8" Target="https://github.com/deeps-2007/Sentinel-explainable-predictive-maintenance" TargetMode="External" Type="http://schemas.openxmlformats.org/officeDocument/2006/relationships/hyperlink"/><Relationship Id="rId9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13435" y="978027"/>
            <a:ext cx="1171194" cy="1171194"/>
            <a:chOff x="0" y="0"/>
            <a:chExt cx="1561592" cy="15615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61592" cy="1561592"/>
            </a:xfrm>
            <a:custGeom>
              <a:avLst/>
              <a:gdLst/>
              <a:ahLst/>
              <a:cxnLst/>
              <a:rect r="r" b="b" t="t" l="l"/>
              <a:pathLst>
                <a:path h="1561592" w="1561592">
                  <a:moveTo>
                    <a:pt x="0" y="780796"/>
                  </a:moveTo>
                  <a:cubicBezTo>
                    <a:pt x="0" y="349631"/>
                    <a:pt x="349631" y="0"/>
                    <a:pt x="780796" y="0"/>
                  </a:cubicBezTo>
                  <a:cubicBezTo>
                    <a:pt x="1211961" y="0"/>
                    <a:pt x="1561592" y="349631"/>
                    <a:pt x="1561592" y="780796"/>
                  </a:cubicBezTo>
                  <a:cubicBezTo>
                    <a:pt x="1561592" y="1211961"/>
                    <a:pt x="1211961" y="1561592"/>
                    <a:pt x="780796" y="1561592"/>
                  </a:cubicBezTo>
                  <a:cubicBezTo>
                    <a:pt x="349631" y="1561592"/>
                    <a:pt x="0" y="1211961"/>
                    <a:pt x="0" y="780796"/>
                  </a:cubicBezTo>
                  <a:close/>
                </a:path>
              </a:pathLst>
            </a:custGeom>
            <a:solidFill>
              <a:srgbClr val="22D3EE"/>
            </a:solidFill>
            <a:ln w="19050" cap="sq">
              <a:solidFill>
                <a:srgbClr val="22D3EE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134037" y="1298629"/>
            <a:ext cx="529990" cy="529990"/>
            <a:chOff x="0" y="0"/>
            <a:chExt cx="706653" cy="706653"/>
          </a:xfrm>
        </p:grpSpPr>
        <p:sp>
          <p:nvSpPr>
            <p:cNvPr name="Freeform 6" id="6" descr="FaUsers"/>
            <p:cNvSpPr/>
            <p:nvPr/>
          </p:nvSpPr>
          <p:spPr>
            <a:xfrm flipH="false" flipV="false" rot="0">
              <a:off x="0" y="0"/>
              <a:ext cx="706628" cy="706628"/>
            </a:xfrm>
            <a:custGeom>
              <a:avLst/>
              <a:gdLst/>
              <a:ahLst/>
              <a:cxnLst/>
              <a:rect r="r" b="b" t="t" l="l"/>
              <a:pathLst>
                <a:path h="706628" w="706628">
                  <a:moveTo>
                    <a:pt x="0" y="0"/>
                  </a:moveTo>
                  <a:lnTo>
                    <a:pt x="706628" y="0"/>
                  </a:lnTo>
                  <a:lnTo>
                    <a:pt x="706628" y="706628"/>
                  </a:lnTo>
                  <a:lnTo>
                    <a:pt x="0" y="7066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3" b="-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2331720" y="1014984"/>
            <a:ext cx="14950440" cy="1097280"/>
            <a:chOff x="0" y="0"/>
            <a:chExt cx="1993392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9339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9933920">
                  <a:moveTo>
                    <a:pt x="0" y="0"/>
                  </a:moveTo>
                  <a:lnTo>
                    <a:pt x="19933920" y="0"/>
                  </a:lnTo>
                  <a:lnTo>
                    <a:pt x="199339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5483" r="0" b="-21548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993392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Team Introduction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64060" y="6826885"/>
            <a:ext cx="10286671" cy="2582227"/>
            <a:chOff x="0" y="0"/>
            <a:chExt cx="13715561" cy="344297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3715561" cy="3442970"/>
              <a:chOff x="0" y="0"/>
              <a:chExt cx="13917930" cy="349377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3917930" cy="3493770"/>
              </a:xfrm>
              <a:custGeom>
                <a:avLst/>
                <a:gdLst/>
                <a:ahLst/>
                <a:cxnLst/>
                <a:rect r="r" b="b" t="t" l="l"/>
                <a:pathLst>
                  <a:path h="3493770" w="13917930">
                    <a:moveTo>
                      <a:pt x="0" y="220726"/>
                    </a:moveTo>
                    <a:cubicBezTo>
                      <a:pt x="0" y="98806"/>
                      <a:pt x="98806" y="0"/>
                      <a:pt x="220726" y="0"/>
                    </a:cubicBezTo>
                    <a:lnTo>
                      <a:pt x="13697204" y="0"/>
                    </a:lnTo>
                    <a:cubicBezTo>
                      <a:pt x="13819124" y="0"/>
                      <a:pt x="13917930" y="98806"/>
                      <a:pt x="13917930" y="220726"/>
                    </a:cubicBezTo>
                    <a:lnTo>
                      <a:pt x="13917930" y="3273044"/>
                    </a:lnTo>
                    <a:cubicBezTo>
                      <a:pt x="13917930" y="3394964"/>
                      <a:pt x="13819124" y="3493770"/>
                      <a:pt x="13697204" y="3493770"/>
                    </a:cubicBezTo>
                    <a:lnTo>
                      <a:pt x="220726" y="3493770"/>
                    </a:lnTo>
                    <a:cubicBezTo>
                      <a:pt x="98806" y="3493770"/>
                      <a:pt x="0" y="3394964"/>
                      <a:pt x="0" y="3273044"/>
                    </a:cubicBezTo>
                    <a:close/>
                  </a:path>
                </a:pathLst>
              </a:custGeom>
              <a:solidFill>
                <a:srgbClr val="151C4F"/>
              </a:solidFill>
              <a:ln w="14288" cap="sq">
                <a:solidFill>
                  <a:srgbClr val="2C3680"/>
                </a:solidFill>
                <a:prstDash val="solid"/>
                <a:miter/>
              </a:ln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537534" y="2069411"/>
              <a:ext cx="1971416" cy="745914"/>
              <a:chOff x="0" y="0"/>
              <a:chExt cx="2000504" cy="75692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000504" cy="756920"/>
              </a:xfrm>
              <a:custGeom>
                <a:avLst/>
                <a:gdLst/>
                <a:ahLst/>
                <a:cxnLst/>
                <a:rect r="r" b="b" t="t" l="l"/>
                <a:pathLst>
                  <a:path h="756920" w="2000504">
                    <a:moveTo>
                      <a:pt x="0" y="378460"/>
                    </a:moveTo>
                    <a:cubicBezTo>
                      <a:pt x="0" y="169418"/>
                      <a:pt x="169418" y="0"/>
                      <a:pt x="378460" y="0"/>
                    </a:cubicBezTo>
                    <a:lnTo>
                      <a:pt x="1622044" y="0"/>
                    </a:lnTo>
                    <a:cubicBezTo>
                      <a:pt x="1831086" y="0"/>
                      <a:pt x="2000504" y="169418"/>
                      <a:pt x="2000504" y="378460"/>
                    </a:cubicBezTo>
                    <a:cubicBezTo>
                      <a:pt x="2000504" y="587502"/>
                      <a:pt x="1831086" y="756920"/>
                      <a:pt x="1622044" y="756920"/>
                    </a:cubicBezTo>
                    <a:lnTo>
                      <a:pt x="378460" y="756920"/>
                    </a:lnTo>
                    <a:cubicBezTo>
                      <a:pt x="169418" y="756920"/>
                      <a:pt x="0" y="587502"/>
                      <a:pt x="0" y="378460"/>
                    </a:cubicBezTo>
                    <a:close/>
                  </a:path>
                </a:pathLst>
              </a:custGeom>
              <a:solidFill>
                <a:srgbClr val="151C4F"/>
              </a:solidFill>
              <a:ln w="19050" cap="sq">
                <a:solidFill>
                  <a:srgbClr val="22D3EE"/>
                </a:solidFill>
                <a:prstDash val="solid"/>
                <a:miter/>
              </a:ln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550049" y="2081927"/>
              <a:ext cx="1946386" cy="720884"/>
              <a:chOff x="0" y="0"/>
              <a:chExt cx="1975104" cy="73152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975104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1975104">
                    <a:moveTo>
                      <a:pt x="0" y="0"/>
                    </a:moveTo>
                    <a:lnTo>
                      <a:pt x="1975104" y="0"/>
                    </a:lnTo>
                    <a:lnTo>
                      <a:pt x="1975104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2609" r="0" b="-2609"/>
                </a:stretch>
              </a:blip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1975104" cy="76962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59"/>
                  </a:lnSpc>
                </a:pPr>
                <a:r>
                  <a:rPr lang="en-US" sz="1799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Python</a:t>
                </a: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2664140" y="2069411"/>
              <a:ext cx="1971416" cy="745914"/>
              <a:chOff x="0" y="0"/>
              <a:chExt cx="2000504" cy="75692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000504" cy="756920"/>
              </a:xfrm>
              <a:custGeom>
                <a:avLst/>
                <a:gdLst/>
                <a:ahLst/>
                <a:cxnLst/>
                <a:rect r="r" b="b" t="t" l="l"/>
                <a:pathLst>
                  <a:path h="756920" w="2000504">
                    <a:moveTo>
                      <a:pt x="0" y="378460"/>
                    </a:moveTo>
                    <a:cubicBezTo>
                      <a:pt x="0" y="169418"/>
                      <a:pt x="169418" y="0"/>
                      <a:pt x="378460" y="0"/>
                    </a:cubicBezTo>
                    <a:lnTo>
                      <a:pt x="1622044" y="0"/>
                    </a:lnTo>
                    <a:cubicBezTo>
                      <a:pt x="1831086" y="0"/>
                      <a:pt x="2000504" y="169418"/>
                      <a:pt x="2000504" y="378460"/>
                    </a:cubicBezTo>
                    <a:cubicBezTo>
                      <a:pt x="2000504" y="587502"/>
                      <a:pt x="1831086" y="756920"/>
                      <a:pt x="1622044" y="756920"/>
                    </a:cubicBezTo>
                    <a:lnTo>
                      <a:pt x="378460" y="756920"/>
                    </a:lnTo>
                    <a:cubicBezTo>
                      <a:pt x="169418" y="756920"/>
                      <a:pt x="0" y="587502"/>
                      <a:pt x="0" y="378460"/>
                    </a:cubicBezTo>
                    <a:close/>
                  </a:path>
                </a:pathLst>
              </a:custGeom>
              <a:solidFill>
                <a:srgbClr val="151C4F"/>
              </a:solidFill>
              <a:ln w="19050" cap="sq">
                <a:solidFill>
                  <a:srgbClr val="22D3EE"/>
                </a:solidFill>
                <a:prstDash val="solid"/>
                <a:miter/>
              </a:ln>
            </p:spPr>
          </p:sp>
        </p:grpSp>
        <p:grpSp>
          <p:nvGrpSpPr>
            <p:cNvPr name="Group 20" id="20"/>
            <p:cNvGrpSpPr/>
            <p:nvPr/>
          </p:nvGrpSpPr>
          <p:grpSpPr>
            <a:xfrm rot="0">
              <a:off x="2676656" y="2081927"/>
              <a:ext cx="1946386" cy="720884"/>
              <a:chOff x="0" y="0"/>
              <a:chExt cx="1975104" cy="73152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975104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1975104">
                    <a:moveTo>
                      <a:pt x="0" y="0"/>
                    </a:moveTo>
                    <a:lnTo>
                      <a:pt x="1975104" y="0"/>
                    </a:lnTo>
                    <a:lnTo>
                      <a:pt x="1975104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2609" r="0" b="-2609"/>
                </a:stretch>
              </a:blip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1975104" cy="76962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59"/>
                  </a:lnSpc>
                </a:pPr>
                <a:r>
                  <a:rPr lang="en-US" sz="1799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XGBoost</a:t>
                </a: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4790747" y="2069411"/>
              <a:ext cx="1971416" cy="745914"/>
              <a:chOff x="0" y="0"/>
              <a:chExt cx="2000504" cy="75692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2000504" cy="756920"/>
              </a:xfrm>
              <a:custGeom>
                <a:avLst/>
                <a:gdLst/>
                <a:ahLst/>
                <a:cxnLst/>
                <a:rect r="r" b="b" t="t" l="l"/>
                <a:pathLst>
                  <a:path h="756920" w="2000504">
                    <a:moveTo>
                      <a:pt x="0" y="378460"/>
                    </a:moveTo>
                    <a:cubicBezTo>
                      <a:pt x="0" y="169418"/>
                      <a:pt x="169418" y="0"/>
                      <a:pt x="378460" y="0"/>
                    </a:cubicBezTo>
                    <a:lnTo>
                      <a:pt x="1622044" y="0"/>
                    </a:lnTo>
                    <a:cubicBezTo>
                      <a:pt x="1831086" y="0"/>
                      <a:pt x="2000504" y="169418"/>
                      <a:pt x="2000504" y="378460"/>
                    </a:cubicBezTo>
                    <a:cubicBezTo>
                      <a:pt x="2000504" y="587502"/>
                      <a:pt x="1831086" y="756920"/>
                      <a:pt x="1622044" y="756920"/>
                    </a:cubicBezTo>
                    <a:lnTo>
                      <a:pt x="378460" y="756920"/>
                    </a:lnTo>
                    <a:cubicBezTo>
                      <a:pt x="169418" y="756920"/>
                      <a:pt x="0" y="587502"/>
                      <a:pt x="0" y="378460"/>
                    </a:cubicBezTo>
                    <a:close/>
                  </a:path>
                </a:pathLst>
              </a:custGeom>
              <a:solidFill>
                <a:srgbClr val="151C4F"/>
              </a:solidFill>
              <a:ln w="19050" cap="sq">
                <a:solidFill>
                  <a:srgbClr val="22D3EE"/>
                </a:solidFill>
                <a:prstDash val="solid"/>
                <a:miter/>
              </a:ln>
            </p:spPr>
          </p:sp>
        </p:grpSp>
        <p:grpSp>
          <p:nvGrpSpPr>
            <p:cNvPr name="Group 25" id="25"/>
            <p:cNvGrpSpPr/>
            <p:nvPr/>
          </p:nvGrpSpPr>
          <p:grpSpPr>
            <a:xfrm rot="0">
              <a:off x="4803262" y="2081927"/>
              <a:ext cx="1946386" cy="720884"/>
              <a:chOff x="0" y="0"/>
              <a:chExt cx="1975104" cy="73152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975104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1975104">
                    <a:moveTo>
                      <a:pt x="0" y="0"/>
                    </a:moveTo>
                    <a:lnTo>
                      <a:pt x="1975104" y="0"/>
                    </a:lnTo>
                    <a:lnTo>
                      <a:pt x="1975104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2609" r="0" b="-2609"/>
                </a:stretch>
              </a:blip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975104" cy="76962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59"/>
                  </a:lnSpc>
                </a:pPr>
                <a:r>
                  <a:rPr lang="en-US" sz="1799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SHAP</a:t>
                </a: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6917354" y="2069411"/>
              <a:ext cx="1971416" cy="745914"/>
              <a:chOff x="0" y="0"/>
              <a:chExt cx="2000504" cy="75692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2000504" cy="756920"/>
              </a:xfrm>
              <a:custGeom>
                <a:avLst/>
                <a:gdLst/>
                <a:ahLst/>
                <a:cxnLst/>
                <a:rect r="r" b="b" t="t" l="l"/>
                <a:pathLst>
                  <a:path h="756920" w="2000504">
                    <a:moveTo>
                      <a:pt x="0" y="378460"/>
                    </a:moveTo>
                    <a:cubicBezTo>
                      <a:pt x="0" y="169418"/>
                      <a:pt x="169418" y="0"/>
                      <a:pt x="378460" y="0"/>
                    </a:cubicBezTo>
                    <a:lnTo>
                      <a:pt x="1622044" y="0"/>
                    </a:lnTo>
                    <a:cubicBezTo>
                      <a:pt x="1831086" y="0"/>
                      <a:pt x="2000504" y="169418"/>
                      <a:pt x="2000504" y="378460"/>
                    </a:cubicBezTo>
                    <a:cubicBezTo>
                      <a:pt x="2000504" y="587502"/>
                      <a:pt x="1831086" y="756920"/>
                      <a:pt x="1622044" y="756920"/>
                    </a:cubicBezTo>
                    <a:lnTo>
                      <a:pt x="378460" y="756920"/>
                    </a:lnTo>
                    <a:cubicBezTo>
                      <a:pt x="169418" y="756920"/>
                      <a:pt x="0" y="587502"/>
                      <a:pt x="0" y="378460"/>
                    </a:cubicBezTo>
                    <a:close/>
                  </a:path>
                </a:pathLst>
              </a:custGeom>
              <a:solidFill>
                <a:srgbClr val="151C4F"/>
              </a:solidFill>
              <a:ln w="19050" cap="sq">
                <a:solidFill>
                  <a:srgbClr val="22D3EE"/>
                </a:solidFill>
                <a:prstDash val="solid"/>
                <a:miter/>
              </a:ln>
            </p:spPr>
          </p:sp>
        </p:grpSp>
        <p:grpSp>
          <p:nvGrpSpPr>
            <p:cNvPr name="Group 30" id="30"/>
            <p:cNvGrpSpPr/>
            <p:nvPr/>
          </p:nvGrpSpPr>
          <p:grpSpPr>
            <a:xfrm rot="0">
              <a:off x="6929869" y="2081927"/>
              <a:ext cx="1946386" cy="720884"/>
              <a:chOff x="0" y="0"/>
              <a:chExt cx="1975104" cy="73152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975104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1975104">
                    <a:moveTo>
                      <a:pt x="0" y="0"/>
                    </a:moveTo>
                    <a:lnTo>
                      <a:pt x="1975104" y="0"/>
                    </a:lnTo>
                    <a:lnTo>
                      <a:pt x="1975104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2609" r="0" b="-2609"/>
                </a:stretch>
              </a:blip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1975104" cy="76962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59"/>
                  </a:lnSpc>
                </a:pPr>
                <a:r>
                  <a:rPr lang="en-US" sz="1799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React</a:t>
                </a: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9043960" y="2069411"/>
              <a:ext cx="1971416" cy="745914"/>
              <a:chOff x="0" y="0"/>
              <a:chExt cx="2000504" cy="75692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2000504" cy="756920"/>
              </a:xfrm>
              <a:custGeom>
                <a:avLst/>
                <a:gdLst/>
                <a:ahLst/>
                <a:cxnLst/>
                <a:rect r="r" b="b" t="t" l="l"/>
                <a:pathLst>
                  <a:path h="756920" w="2000504">
                    <a:moveTo>
                      <a:pt x="0" y="378460"/>
                    </a:moveTo>
                    <a:cubicBezTo>
                      <a:pt x="0" y="169418"/>
                      <a:pt x="169418" y="0"/>
                      <a:pt x="378460" y="0"/>
                    </a:cubicBezTo>
                    <a:lnTo>
                      <a:pt x="1622044" y="0"/>
                    </a:lnTo>
                    <a:cubicBezTo>
                      <a:pt x="1831086" y="0"/>
                      <a:pt x="2000504" y="169418"/>
                      <a:pt x="2000504" y="378460"/>
                    </a:cubicBezTo>
                    <a:cubicBezTo>
                      <a:pt x="2000504" y="587502"/>
                      <a:pt x="1831086" y="756920"/>
                      <a:pt x="1622044" y="756920"/>
                    </a:cubicBezTo>
                    <a:lnTo>
                      <a:pt x="378460" y="756920"/>
                    </a:lnTo>
                    <a:cubicBezTo>
                      <a:pt x="169418" y="756920"/>
                      <a:pt x="0" y="587502"/>
                      <a:pt x="0" y="378460"/>
                    </a:cubicBezTo>
                    <a:close/>
                  </a:path>
                </a:pathLst>
              </a:custGeom>
              <a:solidFill>
                <a:srgbClr val="151C4F"/>
              </a:solidFill>
              <a:ln w="19050" cap="sq">
                <a:solidFill>
                  <a:srgbClr val="22D3EE"/>
                </a:solidFill>
                <a:prstDash val="solid"/>
                <a:miter/>
              </a:ln>
            </p:spPr>
          </p:sp>
        </p:grpSp>
        <p:grpSp>
          <p:nvGrpSpPr>
            <p:cNvPr name="Group 35" id="35"/>
            <p:cNvGrpSpPr/>
            <p:nvPr/>
          </p:nvGrpSpPr>
          <p:grpSpPr>
            <a:xfrm rot="0">
              <a:off x="9056475" y="2081927"/>
              <a:ext cx="1946386" cy="720884"/>
              <a:chOff x="0" y="0"/>
              <a:chExt cx="1975104" cy="73152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975104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1975104">
                    <a:moveTo>
                      <a:pt x="0" y="0"/>
                    </a:moveTo>
                    <a:lnTo>
                      <a:pt x="1975104" y="0"/>
                    </a:lnTo>
                    <a:lnTo>
                      <a:pt x="1975104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2609" r="0" b="-2609"/>
                </a:stretch>
              </a:blip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1975104" cy="76962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59"/>
                  </a:lnSpc>
                </a:pPr>
                <a:r>
                  <a:rPr lang="en-US" sz="1799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Node.js</a:t>
                </a: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11170567" y="2069411"/>
              <a:ext cx="1971416" cy="745914"/>
              <a:chOff x="0" y="0"/>
              <a:chExt cx="2000504" cy="75692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2000504" cy="756920"/>
              </a:xfrm>
              <a:custGeom>
                <a:avLst/>
                <a:gdLst/>
                <a:ahLst/>
                <a:cxnLst/>
                <a:rect r="r" b="b" t="t" l="l"/>
                <a:pathLst>
                  <a:path h="756920" w="2000504">
                    <a:moveTo>
                      <a:pt x="0" y="378460"/>
                    </a:moveTo>
                    <a:cubicBezTo>
                      <a:pt x="0" y="169418"/>
                      <a:pt x="169418" y="0"/>
                      <a:pt x="378460" y="0"/>
                    </a:cubicBezTo>
                    <a:lnTo>
                      <a:pt x="1622044" y="0"/>
                    </a:lnTo>
                    <a:cubicBezTo>
                      <a:pt x="1831086" y="0"/>
                      <a:pt x="2000504" y="169418"/>
                      <a:pt x="2000504" y="378460"/>
                    </a:cubicBezTo>
                    <a:cubicBezTo>
                      <a:pt x="2000504" y="587502"/>
                      <a:pt x="1831086" y="756920"/>
                      <a:pt x="1622044" y="756920"/>
                    </a:cubicBezTo>
                    <a:lnTo>
                      <a:pt x="378460" y="756920"/>
                    </a:lnTo>
                    <a:cubicBezTo>
                      <a:pt x="169418" y="756920"/>
                      <a:pt x="0" y="587502"/>
                      <a:pt x="0" y="378460"/>
                    </a:cubicBezTo>
                    <a:close/>
                  </a:path>
                </a:pathLst>
              </a:custGeom>
              <a:solidFill>
                <a:srgbClr val="151C4F"/>
              </a:solidFill>
              <a:ln w="19050" cap="sq">
                <a:solidFill>
                  <a:srgbClr val="22D3EE"/>
                </a:solidFill>
                <a:prstDash val="solid"/>
                <a:miter/>
              </a:ln>
            </p:spPr>
          </p:sp>
        </p:grpSp>
        <p:grpSp>
          <p:nvGrpSpPr>
            <p:cNvPr name="Group 40" id="40"/>
            <p:cNvGrpSpPr/>
            <p:nvPr/>
          </p:nvGrpSpPr>
          <p:grpSpPr>
            <a:xfrm rot="0">
              <a:off x="11183082" y="2081927"/>
              <a:ext cx="1946386" cy="720884"/>
              <a:chOff x="0" y="0"/>
              <a:chExt cx="1975104" cy="73152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975104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1975104">
                    <a:moveTo>
                      <a:pt x="0" y="0"/>
                    </a:moveTo>
                    <a:lnTo>
                      <a:pt x="1975104" y="0"/>
                    </a:lnTo>
                    <a:lnTo>
                      <a:pt x="1975104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2609" r="0" b="-2609"/>
                </a:stretch>
              </a:blip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38100"/>
                <a:ext cx="1975104" cy="76962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59"/>
                  </a:lnSpc>
                </a:pPr>
                <a:r>
                  <a:rPr lang="en-US" sz="1799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MySQL</a:t>
                </a:r>
              </a:p>
            </p:txBody>
          </p:sp>
        </p:grpSp>
        <p:sp>
          <p:nvSpPr>
            <p:cNvPr name="TextBox 43" id="43"/>
            <p:cNvSpPr txBox="true"/>
            <p:nvPr/>
          </p:nvSpPr>
          <p:spPr>
            <a:xfrm rot="0">
              <a:off x="550049" y="241618"/>
              <a:ext cx="5406627" cy="5427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28"/>
                </a:lnSpc>
              </a:pPr>
              <a:r>
                <a:rPr lang="en-US" b="true" sz="1773" spc="443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 SENTINEL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550049" y="763231"/>
              <a:ext cx="12615463" cy="7780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92"/>
                </a:lnSpc>
              </a:pPr>
              <a:r>
                <a:rPr lang="en-US" sz="266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Working title: Sentinel, Explainable Predictive Maintenance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318328" y="2604075"/>
            <a:ext cx="4250722" cy="3109345"/>
            <a:chOff x="0" y="0"/>
            <a:chExt cx="7151370" cy="523113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151370" cy="5231130"/>
            </a:xfrm>
            <a:custGeom>
              <a:avLst/>
              <a:gdLst/>
              <a:ahLst/>
              <a:cxnLst/>
              <a:rect r="r" b="b" t="t" l="l"/>
              <a:pathLst>
                <a:path h="5231130" w="7151370">
                  <a:moveTo>
                    <a:pt x="0" y="220345"/>
                  </a:moveTo>
                  <a:cubicBezTo>
                    <a:pt x="0" y="98679"/>
                    <a:pt x="98679" y="0"/>
                    <a:pt x="220345" y="0"/>
                  </a:cubicBezTo>
                  <a:lnTo>
                    <a:pt x="6931025" y="0"/>
                  </a:lnTo>
                  <a:cubicBezTo>
                    <a:pt x="7052691" y="0"/>
                    <a:pt x="7151370" y="98679"/>
                    <a:pt x="7151370" y="220345"/>
                  </a:cubicBezTo>
                  <a:lnTo>
                    <a:pt x="7151370" y="5010785"/>
                  </a:lnTo>
                  <a:cubicBezTo>
                    <a:pt x="7151370" y="5132451"/>
                    <a:pt x="7052691" y="5231130"/>
                    <a:pt x="6931025" y="5231130"/>
                  </a:cubicBezTo>
                  <a:lnTo>
                    <a:pt x="220345" y="5231130"/>
                  </a:lnTo>
                  <a:cubicBezTo>
                    <a:pt x="98679" y="5231130"/>
                    <a:pt x="0" y="5132451"/>
                    <a:pt x="0" y="5010785"/>
                  </a:cubicBezTo>
                  <a:close/>
                </a:path>
              </a:pathLst>
            </a:custGeom>
            <a:solidFill>
              <a:srgbClr val="151C4F"/>
            </a:solidFill>
            <a:ln w="14288" cap="sq">
              <a:solidFill>
                <a:srgbClr val="2C3680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642549" y="2873944"/>
            <a:ext cx="884718" cy="884718"/>
            <a:chOff x="0" y="0"/>
            <a:chExt cx="1488440" cy="14884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488440" cy="1488440"/>
            </a:xfrm>
            <a:custGeom>
              <a:avLst/>
              <a:gdLst/>
              <a:ahLst/>
              <a:cxnLst/>
              <a:rect r="r" b="b" t="t" l="l"/>
              <a:pathLst>
                <a:path h="1488440" w="1488440">
                  <a:moveTo>
                    <a:pt x="0" y="744220"/>
                  </a:moveTo>
                  <a:cubicBezTo>
                    <a:pt x="0" y="333248"/>
                    <a:pt x="333248" y="0"/>
                    <a:pt x="744220" y="0"/>
                  </a:cubicBezTo>
                  <a:cubicBezTo>
                    <a:pt x="1155192" y="0"/>
                    <a:pt x="1488440" y="333248"/>
                    <a:pt x="1488440" y="744220"/>
                  </a:cubicBezTo>
                  <a:cubicBezTo>
                    <a:pt x="1488440" y="1155192"/>
                    <a:pt x="1155192" y="1488440"/>
                    <a:pt x="744220" y="1488440"/>
                  </a:cubicBezTo>
                  <a:cubicBezTo>
                    <a:pt x="333248" y="1488440"/>
                    <a:pt x="0" y="1155192"/>
                    <a:pt x="0" y="744220"/>
                  </a:cubicBezTo>
                  <a:close/>
                </a:path>
              </a:pathLst>
            </a:custGeom>
            <a:solidFill>
              <a:srgbClr val="22D3EE"/>
            </a:solidFill>
            <a:ln w="19050" cap="sq">
              <a:solidFill>
                <a:srgbClr val="22D3EE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884895" y="3116291"/>
            <a:ext cx="400025" cy="400025"/>
            <a:chOff x="0" y="0"/>
            <a:chExt cx="672998" cy="672998"/>
          </a:xfrm>
        </p:grpSpPr>
        <p:sp>
          <p:nvSpPr>
            <p:cNvPr name="Freeform 50" id="50" descr="FaBrain"/>
            <p:cNvSpPr/>
            <p:nvPr/>
          </p:nvSpPr>
          <p:spPr>
            <a:xfrm flipH="false" flipV="false" rot="0">
              <a:off x="0" y="0"/>
              <a:ext cx="672973" cy="672973"/>
            </a:xfrm>
            <a:custGeom>
              <a:avLst/>
              <a:gdLst/>
              <a:ahLst/>
              <a:cxnLst/>
              <a:rect r="r" b="b" t="t" l="l"/>
              <a:pathLst>
                <a:path h="672973" w="672973">
                  <a:moveTo>
                    <a:pt x="0" y="0"/>
                  </a:moveTo>
                  <a:lnTo>
                    <a:pt x="672973" y="0"/>
                  </a:lnTo>
                  <a:lnTo>
                    <a:pt x="672973" y="672973"/>
                  </a:lnTo>
                  <a:lnTo>
                    <a:pt x="0" y="6729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3" b="-3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4775132" y="2604075"/>
            <a:ext cx="4250722" cy="3109345"/>
            <a:chOff x="0" y="0"/>
            <a:chExt cx="7151370" cy="523113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151370" cy="5231130"/>
            </a:xfrm>
            <a:custGeom>
              <a:avLst/>
              <a:gdLst/>
              <a:ahLst/>
              <a:cxnLst/>
              <a:rect r="r" b="b" t="t" l="l"/>
              <a:pathLst>
                <a:path h="5231130" w="7151370">
                  <a:moveTo>
                    <a:pt x="0" y="220345"/>
                  </a:moveTo>
                  <a:cubicBezTo>
                    <a:pt x="0" y="98679"/>
                    <a:pt x="98679" y="0"/>
                    <a:pt x="220345" y="0"/>
                  </a:cubicBezTo>
                  <a:lnTo>
                    <a:pt x="6931025" y="0"/>
                  </a:lnTo>
                  <a:cubicBezTo>
                    <a:pt x="7052691" y="0"/>
                    <a:pt x="7151370" y="98679"/>
                    <a:pt x="7151370" y="220345"/>
                  </a:cubicBezTo>
                  <a:lnTo>
                    <a:pt x="7151370" y="5010785"/>
                  </a:lnTo>
                  <a:cubicBezTo>
                    <a:pt x="7151370" y="5132451"/>
                    <a:pt x="7052691" y="5231130"/>
                    <a:pt x="6931025" y="5231130"/>
                  </a:cubicBezTo>
                  <a:lnTo>
                    <a:pt x="220345" y="5231130"/>
                  </a:lnTo>
                  <a:cubicBezTo>
                    <a:pt x="98679" y="5231130"/>
                    <a:pt x="0" y="5132451"/>
                    <a:pt x="0" y="5010785"/>
                  </a:cubicBezTo>
                  <a:close/>
                </a:path>
              </a:pathLst>
            </a:custGeom>
            <a:solidFill>
              <a:srgbClr val="151C4F"/>
            </a:solidFill>
            <a:ln w="14288" cap="sq">
              <a:solidFill>
                <a:srgbClr val="2C3680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5099352" y="2873944"/>
            <a:ext cx="884718" cy="884718"/>
            <a:chOff x="0" y="0"/>
            <a:chExt cx="1488440" cy="14884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488440" cy="1488440"/>
            </a:xfrm>
            <a:custGeom>
              <a:avLst/>
              <a:gdLst/>
              <a:ahLst/>
              <a:cxnLst/>
              <a:rect r="r" b="b" t="t" l="l"/>
              <a:pathLst>
                <a:path h="1488440" w="1488440">
                  <a:moveTo>
                    <a:pt x="0" y="744220"/>
                  </a:moveTo>
                  <a:cubicBezTo>
                    <a:pt x="0" y="333248"/>
                    <a:pt x="333248" y="0"/>
                    <a:pt x="744220" y="0"/>
                  </a:cubicBezTo>
                  <a:cubicBezTo>
                    <a:pt x="1155192" y="0"/>
                    <a:pt x="1488440" y="333248"/>
                    <a:pt x="1488440" y="744220"/>
                  </a:cubicBezTo>
                  <a:cubicBezTo>
                    <a:pt x="1488440" y="1155192"/>
                    <a:pt x="1155192" y="1488440"/>
                    <a:pt x="744220" y="1488440"/>
                  </a:cubicBezTo>
                  <a:cubicBezTo>
                    <a:pt x="333248" y="1488440"/>
                    <a:pt x="0" y="1155192"/>
                    <a:pt x="0" y="744220"/>
                  </a:cubicBezTo>
                  <a:close/>
                </a:path>
              </a:pathLst>
            </a:custGeom>
            <a:solidFill>
              <a:srgbClr val="22D3EE"/>
            </a:solidFill>
            <a:ln w="19050" cap="sq">
              <a:solidFill>
                <a:srgbClr val="22D3EE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5341699" y="3116291"/>
            <a:ext cx="400025" cy="400025"/>
            <a:chOff x="0" y="0"/>
            <a:chExt cx="672998" cy="672998"/>
          </a:xfrm>
        </p:grpSpPr>
        <p:sp>
          <p:nvSpPr>
            <p:cNvPr name="Freeform 56" id="56" descr="FaPalette"/>
            <p:cNvSpPr/>
            <p:nvPr/>
          </p:nvSpPr>
          <p:spPr>
            <a:xfrm flipH="false" flipV="false" rot="0">
              <a:off x="0" y="0"/>
              <a:ext cx="672973" cy="672973"/>
            </a:xfrm>
            <a:custGeom>
              <a:avLst/>
              <a:gdLst/>
              <a:ahLst/>
              <a:cxnLst/>
              <a:rect r="r" b="b" t="t" l="l"/>
              <a:pathLst>
                <a:path h="672973" w="672973">
                  <a:moveTo>
                    <a:pt x="0" y="0"/>
                  </a:moveTo>
                  <a:lnTo>
                    <a:pt x="672973" y="0"/>
                  </a:lnTo>
                  <a:lnTo>
                    <a:pt x="672973" y="672973"/>
                  </a:lnTo>
                  <a:lnTo>
                    <a:pt x="0" y="6729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3" b="-3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9231936" y="2604075"/>
            <a:ext cx="4250722" cy="3109345"/>
            <a:chOff x="0" y="0"/>
            <a:chExt cx="7151370" cy="523113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151370" cy="5231130"/>
            </a:xfrm>
            <a:custGeom>
              <a:avLst/>
              <a:gdLst/>
              <a:ahLst/>
              <a:cxnLst/>
              <a:rect r="r" b="b" t="t" l="l"/>
              <a:pathLst>
                <a:path h="5231130" w="7151370">
                  <a:moveTo>
                    <a:pt x="0" y="220345"/>
                  </a:moveTo>
                  <a:cubicBezTo>
                    <a:pt x="0" y="98679"/>
                    <a:pt x="98679" y="0"/>
                    <a:pt x="220345" y="0"/>
                  </a:cubicBezTo>
                  <a:lnTo>
                    <a:pt x="6931025" y="0"/>
                  </a:lnTo>
                  <a:cubicBezTo>
                    <a:pt x="7052691" y="0"/>
                    <a:pt x="7151370" y="98679"/>
                    <a:pt x="7151370" y="220345"/>
                  </a:cubicBezTo>
                  <a:lnTo>
                    <a:pt x="7151370" y="5010785"/>
                  </a:lnTo>
                  <a:cubicBezTo>
                    <a:pt x="7151370" y="5132451"/>
                    <a:pt x="7052691" y="5231130"/>
                    <a:pt x="6931025" y="5231130"/>
                  </a:cubicBezTo>
                  <a:lnTo>
                    <a:pt x="220345" y="5231130"/>
                  </a:lnTo>
                  <a:cubicBezTo>
                    <a:pt x="98679" y="5231130"/>
                    <a:pt x="0" y="5132451"/>
                    <a:pt x="0" y="5010785"/>
                  </a:cubicBezTo>
                  <a:close/>
                </a:path>
              </a:pathLst>
            </a:custGeom>
            <a:solidFill>
              <a:srgbClr val="151C4F"/>
            </a:solidFill>
            <a:ln w="14288" cap="sq">
              <a:solidFill>
                <a:srgbClr val="2C3680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9556156" y="2873944"/>
            <a:ext cx="884718" cy="884718"/>
            <a:chOff x="0" y="0"/>
            <a:chExt cx="1488440" cy="14884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488440" cy="1488440"/>
            </a:xfrm>
            <a:custGeom>
              <a:avLst/>
              <a:gdLst/>
              <a:ahLst/>
              <a:cxnLst/>
              <a:rect r="r" b="b" t="t" l="l"/>
              <a:pathLst>
                <a:path h="1488440" w="1488440">
                  <a:moveTo>
                    <a:pt x="0" y="744220"/>
                  </a:moveTo>
                  <a:cubicBezTo>
                    <a:pt x="0" y="333248"/>
                    <a:pt x="333248" y="0"/>
                    <a:pt x="744220" y="0"/>
                  </a:cubicBezTo>
                  <a:cubicBezTo>
                    <a:pt x="1155192" y="0"/>
                    <a:pt x="1488440" y="333248"/>
                    <a:pt x="1488440" y="744220"/>
                  </a:cubicBezTo>
                  <a:cubicBezTo>
                    <a:pt x="1488440" y="1155192"/>
                    <a:pt x="1155192" y="1488440"/>
                    <a:pt x="744220" y="1488440"/>
                  </a:cubicBezTo>
                  <a:cubicBezTo>
                    <a:pt x="333248" y="1488440"/>
                    <a:pt x="0" y="1155192"/>
                    <a:pt x="0" y="744220"/>
                  </a:cubicBezTo>
                  <a:close/>
                </a:path>
              </a:pathLst>
            </a:custGeom>
            <a:solidFill>
              <a:srgbClr val="22D3EE"/>
            </a:solidFill>
            <a:ln w="19050" cap="sq">
              <a:solidFill>
                <a:srgbClr val="22D3EE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9798502" y="3116291"/>
            <a:ext cx="400025" cy="400025"/>
            <a:chOff x="0" y="0"/>
            <a:chExt cx="672998" cy="672998"/>
          </a:xfrm>
        </p:grpSpPr>
        <p:sp>
          <p:nvSpPr>
            <p:cNvPr name="Freeform 62" id="62" descr="FaChartBar"/>
            <p:cNvSpPr/>
            <p:nvPr/>
          </p:nvSpPr>
          <p:spPr>
            <a:xfrm flipH="false" flipV="false" rot="0">
              <a:off x="0" y="0"/>
              <a:ext cx="672973" cy="672973"/>
            </a:xfrm>
            <a:custGeom>
              <a:avLst/>
              <a:gdLst/>
              <a:ahLst/>
              <a:cxnLst/>
              <a:rect r="r" b="b" t="t" l="l"/>
              <a:pathLst>
                <a:path h="672973" w="672973">
                  <a:moveTo>
                    <a:pt x="0" y="0"/>
                  </a:moveTo>
                  <a:lnTo>
                    <a:pt x="672973" y="0"/>
                  </a:lnTo>
                  <a:lnTo>
                    <a:pt x="672973" y="672973"/>
                  </a:lnTo>
                  <a:lnTo>
                    <a:pt x="0" y="6729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3" b="-3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3694458" y="2604075"/>
            <a:ext cx="4250722" cy="3109345"/>
            <a:chOff x="0" y="0"/>
            <a:chExt cx="7151370" cy="523113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151370" cy="5231130"/>
            </a:xfrm>
            <a:custGeom>
              <a:avLst/>
              <a:gdLst/>
              <a:ahLst/>
              <a:cxnLst/>
              <a:rect r="r" b="b" t="t" l="l"/>
              <a:pathLst>
                <a:path h="5231130" w="7151370">
                  <a:moveTo>
                    <a:pt x="0" y="220345"/>
                  </a:moveTo>
                  <a:cubicBezTo>
                    <a:pt x="0" y="98679"/>
                    <a:pt x="98679" y="0"/>
                    <a:pt x="220345" y="0"/>
                  </a:cubicBezTo>
                  <a:lnTo>
                    <a:pt x="6931025" y="0"/>
                  </a:lnTo>
                  <a:cubicBezTo>
                    <a:pt x="7052691" y="0"/>
                    <a:pt x="7151370" y="98679"/>
                    <a:pt x="7151370" y="220345"/>
                  </a:cubicBezTo>
                  <a:lnTo>
                    <a:pt x="7151370" y="5010785"/>
                  </a:lnTo>
                  <a:cubicBezTo>
                    <a:pt x="7151370" y="5132451"/>
                    <a:pt x="7052691" y="5231130"/>
                    <a:pt x="6931025" y="5231130"/>
                  </a:cubicBezTo>
                  <a:lnTo>
                    <a:pt x="220345" y="5231130"/>
                  </a:lnTo>
                  <a:cubicBezTo>
                    <a:pt x="98679" y="5231130"/>
                    <a:pt x="0" y="5132451"/>
                    <a:pt x="0" y="5010785"/>
                  </a:cubicBezTo>
                  <a:close/>
                </a:path>
              </a:pathLst>
            </a:custGeom>
            <a:solidFill>
              <a:srgbClr val="151C4F"/>
            </a:solidFill>
            <a:ln w="14288" cap="sq">
              <a:solidFill>
                <a:srgbClr val="2C3680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4012158" y="2903234"/>
            <a:ext cx="884718" cy="884718"/>
            <a:chOff x="0" y="0"/>
            <a:chExt cx="1488440" cy="14884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488440" cy="1488440"/>
            </a:xfrm>
            <a:custGeom>
              <a:avLst/>
              <a:gdLst/>
              <a:ahLst/>
              <a:cxnLst/>
              <a:rect r="r" b="b" t="t" l="l"/>
              <a:pathLst>
                <a:path h="1488440" w="1488440">
                  <a:moveTo>
                    <a:pt x="0" y="744220"/>
                  </a:moveTo>
                  <a:cubicBezTo>
                    <a:pt x="0" y="333248"/>
                    <a:pt x="333248" y="0"/>
                    <a:pt x="744220" y="0"/>
                  </a:cubicBezTo>
                  <a:cubicBezTo>
                    <a:pt x="1155192" y="0"/>
                    <a:pt x="1488440" y="333248"/>
                    <a:pt x="1488440" y="744220"/>
                  </a:cubicBezTo>
                  <a:cubicBezTo>
                    <a:pt x="1488440" y="1155192"/>
                    <a:pt x="1155192" y="1488440"/>
                    <a:pt x="744220" y="1488440"/>
                  </a:cubicBezTo>
                  <a:cubicBezTo>
                    <a:pt x="333248" y="1488440"/>
                    <a:pt x="0" y="1155192"/>
                    <a:pt x="0" y="744220"/>
                  </a:cubicBezTo>
                  <a:close/>
                </a:path>
              </a:pathLst>
            </a:custGeom>
            <a:solidFill>
              <a:srgbClr val="22D3EE"/>
            </a:solidFill>
            <a:ln w="19050" cap="sq">
              <a:solidFill>
                <a:srgbClr val="22D3EE"/>
              </a:solidFill>
              <a:prstDash val="solid"/>
              <a:miter/>
            </a:ln>
          </p:spPr>
        </p:sp>
      </p:grpSp>
      <p:sp>
        <p:nvSpPr>
          <p:cNvPr name="Freeform 67" id="67"/>
          <p:cNvSpPr/>
          <p:nvPr/>
        </p:nvSpPr>
        <p:spPr>
          <a:xfrm flipH="false" flipV="false" rot="0">
            <a:off x="14233585" y="3116291"/>
            <a:ext cx="467753" cy="427994"/>
          </a:xfrm>
          <a:custGeom>
            <a:avLst/>
            <a:gdLst/>
            <a:ahLst/>
            <a:cxnLst/>
            <a:rect r="r" b="b" t="t" l="l"/>
            <a:pathLst>
              <a:path h="427994" w="467753">
                <a:moveTo>
                  <a:pt x="0" y="0"/>
                </a:moveTo>
                <a:lnTo>
                  <a:pt x="467753" y="0"/>
                </a:lnTo>
                <a:lnTo>
                  <a:pt x="467753" y="427994"/>
                </a:lnTo>
                <a:lnTo>
                  <a:pt x="0" y="42799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11753121" y="6151571"/>
            <a:ext cx="6192058" cy="3775650"/>
          </a:xfrm>
          <a:custGeom>
            <a:avLst/>
            <a:gdLst/>
            <a:ahLst/>
            <a:cxnLst/>
            <a:rect r="r" b="b" t="t" l="l"/>
            <a:pathLst>
              <a:path h="3775650" w="6192058">
                <a:moveTo>
                  <a:pt x="0" y="0"/>
                </a:moveTo>
                <a:lnTo>
                  <a:pt x="6192058" y="0"/>
                </a:lnTo>
                <a:lnTo>
                  <a:pt x="6192058" y="3775649"/>
                </a:lnTo>
                <a:lnTo>
                  <a:pt x="0" y="37756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81188" r="0" b="-64810"/>
            </a:stretch>
          </a:blipFill>
        </p:spPr>
      </p:sp>
      <p:sp>
        <p:nvSpPr>
          <p:cNvPr name="TextBox 69" id="69"/>
          <p:cNvSpPr txBox="true"/>
          <p:nvPr/>
        </p:nvSpPr>
        <p:spPr>
          <a:xfrm rot="0">
            <a:off x="1737123" y="2884184"/>
            <a:ext cx="2608861" cy="411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8"/>
              </a:lnSpc>
            </a:pPr>
            <a:r>
              <a:rPr lang="en-US" sz="2615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Deepika S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737123" y="3342080"/>
            <a:ext cx="2717563" cy="27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7"/>
              </a:lnSpc>
            </a:pPr>
            <a:r>
              <a:rPr lang="en-US" sz="1664" b="true">
                <a:solidFill>
                  <a:srgbClr val="22D3E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Team Lead ·  ML engineer 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758800" y="3940213"/>
            <a:ext cx="3695886" cy="1668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2711" indent="-161355" lvl="1">
              <a:lnSpc>
                <a:spcPts val="2139"/>
              </a:lnSpc>
              <a:buFont typeface="Arial"/>
              <a:buChar char="•"/>
            </a:pPr>
            <a:r>
              <a:rPr lang="en-US" sz="178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Develops and evaluates ML models</a:t>
            </a:r>
          </a:p>
          <a:p>
            <a:pPr algn="l" marL="322711" indent="-161355" lvl="1">
              <a:lnSpc>
                <a:spcPts val="2139"/>
              </a:lnSpc>
              <a:buFont typeface="Arial"/>
              <a:buChar char="•"/>
            </a:pPr>
            <a:r>
              <a:rPr lang="en-US" sz="178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Handles API integration and technical architecture</a:t>
            </a:r>
          </a:p>
          <a:p>
            <a:pPr algn="l" marL="322711" indent="-161355" lvl="1">
              <a:lnSpc>
                <a:spcPts val="2139"/>
              </a:lnSpc>
              <a:buFont typeface="Arial"/>
              <a:buChar char="•"/>
            </a:pPr>
            <a:r>
              <a:rPr lang="en-US" sz="178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Leads the pitch and overall project coordination</a:t>
            </a:r>
          </a:p>
          <a:p>
            <a:pPr algn="l">
              <a:lnSpc>
                <a:spcPts val="2139"/>
              </a:lnSpc>
            </a:pPr>
          </a:p>
        </p:txBody>
      </p:sp>
      <p:sp>
        <p:nvSpPr>
          <p:cNvPr name="TextBox 72" id="72"/>
          <p:cNvSpPr txBox="true"/>
          <p:nvPr/>
        </p:nvSpPr>
        <p:spPr>
          <a:xfrm rot="0">
            <a:off x="6193927" y="2884184"/>
            <a:ext cx="2608861" cy="411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8"/>
              </a:lnSpc>
            </a:pPr>
            <a:r>
              <a:rPr lang="en-US" sz="2615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Akash M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6193927" y="3342080"/>
            <a:ext cx="2717563" cy="27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7"/>
              </a:lnSpc>
            </a:pPr>
            <a:r>
              <a:rPr lang="en-US" sz="1664" b="true">
                <a:solidFill>
                  <a:srgbClr val="22D3E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Frontend &amp; UX  developer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5341699" y="3997522"/>
            <a:ext cx="3429458" cy="1541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9447" indent="-149724" lvl="1">
              <a:lnSpc>
                <a:spcPts val="1985"/>
              </a:lnSpc>
              <a:buFont typeface="Arial"/>
              <a:buChar char="•"/>
            </a:pPr>
            <a:r>
              <a:rPr lang="en-US" sz="165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Builds the React dashboard and UI</a:t>
            </a:r>
          </a:p>
          <a:p>
            <a:pPr algn="l" marL="299447" indent="-149724" lvl="1">
              <a:lnSpc>
                <a:spcPts val="1985"/>
              </a:lnSpc>
              <a:buFont typeface="Arial"/>
              <a:buChar char="•"/>
            </a:pPr>
            <a:r>
              <a:rPr lang="en-US" sz="165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Designs data visualizations and user experience</a:t>
            </a:r>
          </a:p>
          <a:p>
            <a:pPr algn="l" marL="299447" indent="-149724" lvl="1">
              <a:lnSpc>
                <a:spcPts val="1985"/>
              </a:lnSpc>
              <a:buFont typeface="Arial"/>
              <a:buChar char="•"/>
            </a:pPr>
            <a:r>
              <a:rPr lang="en-US" sz="165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Handles the live demo and frontend flow</a:t>
            </a:r>
          </a:p>
          <a:p>
            <a:pPr algn="l">
              <a:lnSpc>
                <a:spcPts val="1985"/>
              </a:lnSpc>
            </a:pPr>
          </a:p>
        </p:txBody>
      </p:sp>
      <p:sp>
        <p:nvSpPr>
          <p:cNvPr name="TextBox 75" id="75"/>
          <p:cNvSpPr txBox="true"/>
          <p:nvPr/>
        </p:nvSpPr>
        <p:spPr>
          <a:xfrm rot="0">
            <a:off x="10650730" y="3342080"/>
            <a:ext cx="2717563" cy="27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7"/>
              </a:lnSpc>
            </a:pPr>
            <a:r>
              <a:rPr lang="en-US" sz="1664" b="true">
                <a:solidFill>
                  <a:srgbClr val="22D3E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source &amp; Product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9855037" y="3897988"/>
            <a:ext cx="3326297" cy="1740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0440" indent="-145220" lvl="1">
              <a:lnSpc>
                <a:spcPts val="1925"/>
              </a:lnSpc>
              <a:buFont typeface="Arial"/>
              <a:buChar char="•"/>
            </a:pPr>
            <a:r>
              <a:rPr lang="en-US" sz="160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Prepares and validates the project dataset</a:t>
            </a:r>
          </a:p>
          <a:p>
            <a:pPr algn="l" marL="290440" indent="-145220" lvl="1">
              <a:lnSpc>
                <a:spcPts val="1925"/>
              </a:lnSpc>
              <a:buFont typeface="Arial"/>
              <a:buChar char="•"/>
            </a:pPr>
            <a:r>
              <a:rPr lang="en-US" sz="160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Defines metrics and evaluates model results</a:t>
            </a:r>
          </a:p>
          <a:p>
            <a:pPr algn="l" marL="290440" indent="-145220" lvl="1">
              <a:lnSpc>
                <a:spcPts val="1925"/>
              </a:lnSpc>
              <a:buFont typeface="Arial"/>
              <a:buChar char="•"/>
            </a:pPr>
            <a:r>
              <a:rPr lang="en-US" sz="160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Handles the business case, requirements, and product story</a:t>
            </a:r>
          </a:p>
          <a:p>
            <a:pPr algn="l">
              <a:lnSpc>
                <a:spcPts val="1925"/>
              </a:lnSpc>
            </a:pPr>
          </a:p>
        </p:txBody>
      </p:sp>
      <p:sp>
        <p:nvSpPr>
          <p:cNvPr name="TextBox 77" id="77"/>
          <p:cNvSpPr txBox="true"/>
          <p:nvPr/>
        </p:nvSpPr>
        <p:spPr>
          <a:xfrm rot="0">
            <a:off x="10650730" y="2884184"/>
            <a:ext cx="2608861" cy="411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8"/>
              </a:lnSpc>
            </a:pPr>
            <a:r>
              <a:rPr lang="en-US" sz="2615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Deepak V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5113252" y="2884184"/>
            <a:ext cx="2608861" cy="411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8"/>
              </a:lnSpc>
            </a:pPr>
            <a:r>
              <a:rPr lang="en-US" sz="2615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Dhyanesh M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5113252" y="3342080"/>
            <a:ext cx="2717563" cy="27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7"/>
              </a:lnSpc>
            </a:pPr>
            <a:r>
              <a:rPr lang="en-US" sz="1664" b="true">
                <a:solidFill>
                  <a:srgbClr val="22D3E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Backend Developer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4233585" y="3949738"/>
            <a:ext cx="3341039" cy="1502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1727" indent="-145863" lvl="1">
              <a:lnSpc>
                <a:spcPts val="1934"/>
              </a:lnSpc>
              <a:buFont typeface="Arial"/>
              <a:buChar char="•"/>
            </a:pPr>
            <a:r>
              <a:rPr lang="en-US" sz="161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Develops backend APIs and server logic</a:t>
            </a:r>
          </a:p>
          <a:p>
            <a:pPr algn="l" marL="291727" indent="-145863" lvl="1">
              <a:lnSpc>
                <a:spcPts val="1934"/>
              </a:lnSpc>
              <a:buFont typeface="Arial"/>
              <a:buChar char="•"/>
            </a:pPr>
            <a:r>
              <a:rPr lang="en-US" sz="161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Connects ML models with the application</a:t>
            </a:r>
          </a:p>
          <a:p>
            <a:pPr algn="l" marL="291727" indent="-145863" lvl="1">
              <a:lnSpc>
                <a:spcPts val="1934"/>
              </a:lnSpc>
              <a:buFont typeface="Arial"/>
              <a:buChar char="•"/>
            </a:pPr>
            <a:r>
              <a:rPr lang="en-US" sz="161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Handles database integration and system performance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04283" y="1353241"/>
            <a:ext cx="16468725" cy="1171194"/>
            <a:chOff x="0" y="0"/>
            <a:chExt cx="21958300" cy="1561592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561592" cy="1561592"/>
              <a:chOff x="0" y="0"/>
              <a:chExt cx="1561592" cy="156159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561592" cy="1561592"/>
              </a:xfrm>
              <a:custGeom>
                <a:avLst/>
                <a:gdLst/>
                <a:ahLst/>
                <a:cxnLst/>
                <a:rect r="r" b="b" t="t" l="l"/>
                <a:pathLst>
                  <a:path h="1561592" w="1561592">
                    <a:moveTo>
                      <a:pt x="0" y="780796"/>
                    </a:moveTo>
                    <a:cubicBezTo>
                      <a:pt x="0" y="349631"/>
                      <a:pt x="349631" y="0"/>
                      <a:pt x="780796" y="0"/>
                    </a:cubicBezTo>
                    <a:cubicBezTo>
                      <a:pt x="1211961" y="0"/>
                      <a:pt x="1561592" y="349631"/>
                      <a:pt x="1561592" y="780796"/>
                    </a:cubicBezTo>
                    <a:cubicBezTo>
                      <a:pt x="1561592" y="1211961"/>
                      <a:pt x="1211961" y="1561592"/>
                      <a:pt x="780796" y="1561592"/>
                    </a:cubicBezTo>
                    <a:cubicBezTo>
                      <a:pt x="349631" y="1561592"/>
                      <a:pt x="0" y="1211961"/>
                      <a:pt x="0" y="780796"/>
                    </a:cubicBezTo>
                    <a:close/>
                  </a:path>
                </a:pathLst>
              </a:custGeom>
              <a:solidFill>
                <a:srgbClr val="22D3EE"/>
              </a:solidFill>
              <a:ln w="19050" cap="sq">
                <a:solidFill>
                  <a:srgbClr val="22D3EE"/>
                </a:solidFill>
                <a:prstDash val="solid"/>
                <a:miter/>
              </a:ln>
            </p:spPr>
          </p:sp>
        </p:grpSp>
        <p:grpSp>
          <p:nvGrpSpPr>
            <p:cNvPr name="Group 6" id="6"/>
            <p:cNvGrpSpPr/>
            <p:nvPr/>
          </p:nvGrpSpPr>
          <p:grpSpPr>
            <a:xfrm rot="0">
              <a:off x="427469" y="427469"/>
              <a:ext cx="706653" cy="706653"/>
              <a:chOff x="0" y="0"/>
              <a:chExt cx="706653" cy="706653"/>
            </a:xfrm>
          </p:grpSpPr>
          <p:sp>
            <p:nvSpPr>
              <p:cNvPr name="Freeform 7" id="7" descr="FaExclamationTriangle"/>
              <p:cNvSpPr/>
              <p:nvPr/>
            </p:nvSpPr>
            <p:spPr>
              <a:xfrm flipH="false" flipV="false" rot="0">
                <a:off x="0" y="0"/>
                <a:ext cx="706628" cy="706628"/>
              </a:xfrm>
              <a:custGeom>
                <a:avLst/>
                <a:gdLst/>
                <a:ahLst/>
                <a:cxnLst/>
                <a:rect r="r" b="b" t="t" l="l"/>
                <a:pathLst>
                  <a:path h="706628" w="706628">
                    <a:moveTo>
                      <a:pt x="0" y="0"/>
                    </a:moveTo>
                    <a:lnTo>
                      <a:pt x="706628" y="0"/>
                    </a:lnTo>
                    <a:lnTo>
                      <a:pt x="706628" y="706628"/>
                    </a:lnTo>
                    <a:lnTo>
                      <a:pt x="0" y="70662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0" r="-3" b="-3"/>
                </a:stretch>
              </a:blipFill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2024380" y="49276"/>
              <a:ext cx="19933920" cy="1463040"/>
              <a:chOff x="0" y="0"/>
              <a:chExt cx="19933920" cy="146304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9933920" cy="1463040"/>
              </a:xfrm>
              <a:custGeom>
                <a:avLst/>
                <a:gdLst/>
                <a:ahLst/>
                <a:cxnLst/>
                <a:rect r="r" b="b" t="t" l="l"/>
                <a:pathLst>
                  <a:path h="1463040" w="19933920">
                    <a:moveTo>
                      <a:pt x="0" y="0"/>
                    </a:moveTo>
                    <a:lnTo>
                      <a:pt x="19933920" y="0"/>
                    </a:lnTo>
                    <a:lnTo>
                      <a:pt x="19933920" y="1463040"/>
                    </a:lnTo>
                    <a:lnTo>
                      <a:pt x="0" y="1463040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215483" r="0" b="-215483"/>
                </a:stretch>
              </a:blip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9525"/>
                <a:ext cx="19933920" cy="147256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6480"/>
                  </a:lnSpc>
                </a:pPr>
                <a:r>
                  <a:rPr lang="en-US" sz="5400" b="true">
                    <a:solidFill>
                      <a:srgbClr val="FFFFFF"/>
                    </a:solidFill>
                    <a:latin typeface="Cambria Bold"/>
                    <a:ea typeface="Cambria Bold"/>
                    <a:cs typeface="Cambria Bold"/>
                    <a:sym typeface="Cambria Bold"/>
                  </a:rPr>
                  <a:t>Problem Statement</a:t>
                </a:r>
              </a:p>
            </p:txBody>
          </p:sp>
        </p:grpSp>
      </p:grpSp>
      <p:sp>
        <p:nvSpPr>
          <p:cNvPr name="TextBox 11" id="11"/>
          <p:cNvSpPr txBox="true"/>
          <p:nvPr/>
        </p:nvSpPr>
        <p:spPr>
          <a:xfrm rot="0">
            <a:off x="902269" y="3314951"/>
            <a:ext cx="8778240" cy="5132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22D3E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problem:</a:t>
            </a:r>
            <a:r>
              <a:rPr lang="en-US" sz="2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machines break without warning, so plants fix them only after they fail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22D3E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Who hurts:</a:t>
            </a:r>
            <a:r>
              <a:rPr lang="en-US" sz="2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plant managers, maintenance engineers and technicians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22D3E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Example:</a:t>
            </a:r>
            <a:r>
              <a:rPr lang="en-US" sz="2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a cutting tool wears out mid-shift, the line stops, scrap piles up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22D3E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Why AI fails here:</a:t>
            </a:r>
            <a:r>
              <a:rPr lang="en-US" sz="2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black-box alerts get ignored because nobody can see the reason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060815" y="3296377"/>
            <a:ext cx="7324916" cy="2346008"/>
            <a:chOff x="0" y="0"/>
            <a:chExt cx="9766554" cy="31280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766554" cy="3128010"/>
            </a:xfrm>
            <a:custGeom>
              <a:avLst/>
              <a:gdLst/>
              <a:ahLst/>
              <a:cxnLst/>
              <a:rect r="r" b="b" t="t" l="l"/>
              <a:pathLst>
                <a:path h="3128010" w="9766554">
                  <a:moveTo>
                    <a:pt x="0" y="220853"/>
                  </a:moveTo>
                  <a:cubicBezTo>
                    <a:pt x="0" y="98806"/>
                    <a:pt x="98806" y="0"/>
                    <a:pt x="220853" y="0"/>
                  </a:cubicBezTo>
                  <a:lnTo>
                    <a:pt x="9545701" y="0"/>
                  </a:lnTo>
                  <a:cubicBezTo>
                    <a:pt x="9667621" y="0"/>
                    <a:pt x="9766554" y="98806"/>
                    <a:pt x="9766554" y="220853"/>
                  </a:cubicBezTo>
                  <a:lnTo>
                    <a:pt x="9766554" y="2907157"/>
                  </a:lnTo>
                  <a:cubicBezTo>
                    <a:pt x="9766554" y="3029077"/>
                    <a:pt x="9667748" y="3128010"/>
                    <a:pt x="9545701" y="3128010"/>
                  </a:cubicBezTo>
                  <a:lnTo>
                    <a:pt x="220853" y="3128010"/>
                  </a:lnTo>
                  <a:cubicBezTo>
                    <a:pt x="98806" y="3128010"/>
                    <a:pt x="0" y="3029204"/>
                    <a:pt x="0" y="2907157"/>
                  </a:cubicBezTo>
                  <a:close/>
                </a:path>
              </a:pathLst>
            </a:custGeom>
            <a:solidFill>
              <a:srgbClr val="151C4F"/>
            </a:solidFill>
            <a:ln w="14288" cap="sq">
              <a:solidFill>
                <a:srgbClr val="2C3680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0479439" y="3440681"/>
            <a:ext cx="2673251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60"/>
              </a:lnSpc>
            </a:pPr>
            <a:r>
              <a:rPr lang="en-US" b="true" sz="7300">
                <a:solidFill>
                  <a:srgbClr val="22D3EE"/>
                </a:solidFill>
                <a:latin typeface="Cambria Bold"/>
                <a:ea typeface="Cambria Bold"/>
                <a:cs typeface="Cambria Bold"/>
                <a:sym typeface="Cambria Bold"/>
              </a:rPr>
              <a:t>$1.4T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79439" y="4558916"/>
            <a:ext cx="6583680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C9D3FF"/>
                </a:solidFill>
                <a:latin typeface="Calibri (MS)"/>
                <a:ea typeface="Calibri (MS)"/>
                <a:cs typeface="Calibri (MS)"/>
                <a:sym typeface="Calibri (MS)"/>
              </a:rPr>
              <a:t>lost every year by the world's 500 biggest companies to unplanned downtime (≈11% of revenue)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060815" y="5902417"/>
            <a:ext cx="7324916" cy="2346008"/>
            <a:chOff x="0" y="0"/>
            <a:chExt cx="9766554" cy="312801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766554" cy="3128010"/>
            </a:xfrm>
            <a:custGeom>
              <a:avLst/>
              <a:gdLst/>
              <a:ahLst/>
              <a:cxnLst/>
              <a:rect r="r" b="b" t="t" l="l"/>
              <a:pathLst>
                <a:path h="3128010" w="9766554">
                  <a:moveTo>
                    <a:pt x="0" y="220853"/>
                  </a:moveTo>
                  <a:cubicBezTo>
                    <a:pt x="0" y="98806"/>
                    <a:pt x="98806" y="0"/>
                    <a:pt x="220853" y="0"/>
                  </a:cubicBezTo>
                  <a:lnTo>
                    <a:pt x="9545701" y="0"/>
                  </a:lnTo>
                  <a:cubicBezTo>
                    <a:pt x="9667621" y="0"/>
                    <a:pt x="9766554" y="98806"/>
                    <a:pt x="9766554" y="220853"/>
                  </a:cubicBezTo>
                  <a:lnTo>
                    <a:pt x="9766554" y="2907157"/>
                  </a:lnTo>
                  <a:cubicBezTo>
                    <a:pt x="9766554" y="3029077"/>
                    <a:pt x="9667748" y="3128010"/>
                    <a:pt x="9545701" y="3128010"/>
                  </a:cubicBezTo>
                  <a:lnTo>
                    <a:pt x="220853" y="3128010"/>
                  </a:lnTo>
                  <a:cubicBezTo>
                    <a:pt x="98806" y="3128010"/>
                    <a:pt x="0" y="3029204"/>
                    <a:pt x="0" y="2907157"/>
                  </a:cubicBezTo>
                  <a:close/>
                </a:path>
              </a:pathLst>
            </a:custGeom>
            <a:solidFill>
              <a:srgbClr val="151C4F"/>
            </a:solidFill>
            <a:ln w="14288" cap="sq">
              <a:solidFill>
                <a:srgbClr val="2C3680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0479439" y="6069581"/>
            <a:ext cx="403354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60"/>
              </a:lnSpc>
            </a:pPr>
            <a:r>
              <a:rPr lang="en-US" b="true" sz="5800">
                <a:solidFill>
                  <a:srgbClr val="22D3EE"/>
                </a:solidFill>
                <a:latin typeface="Cambria Bold"/>
                <a:ea typeface="Cambria Bold"/>
                <a:cs typeface="Cambria Bold"/>
                <a:sym typeface="Cambria Bold"/>
              </a:rPr>
              <a:t>₹22</a:t>
            </a:r>
            <a:r>
              <a:rPr lang="en-US" b="true" sz="5800">
                <a:solidFill>
                  <a:srgbClr val="22D3EE"/>
                </a:solidFill>
                <a:latin typeface="Cambria Bold"/>
                <a:ea typeface="Cambria Bold"/>
                <a:cs typeface="Cambria Bold"/>
                <a:sym typeface="Cambria Bold"/>
              </a:rPr>
              <a:t>2.78 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479439" y="7164956"/>
            <a:ext cx="658368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C9D3FF"/>
                </a:solidFill>
                <a:latin typeface="Calibri (MS)"/>
                <a:ea typeface="Calibri (MS)"/>
                <a:cs typeface="Calibri (MS)"/>
                <a:sym typeface="Calibri (MS)"/>
              </a:rPr>
              <a:t>for every hour an automotive line stands idle (more than $₹58.1K a second)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70127" y="8457975"/>
            <a:ext cx="7002304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0"/>
              </a:lnSpc>
            </a:pPr>
            <a:r>
              <a:rPr lang="en-US" sz="1975">
                <a:solidFill>
                  <a:srgbClr val="C9D3FF"/>
                </a:solidFill>
                <a:latin typeface="Calibri (MS)"/>
                <a:ea typeface="Calibri (MS)"/>
                <a:cs typeface="Calibri (MS)"/>
                <a:sym typeface="Calibri (MS)"/>
              </a:rPr>
              <a:t>Source: Siemens, The True Cost of Downtime 2024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194462" y="7136857"/>
            <a:ext cx="8193855" cy="1241584"/>
            <a:chOff x="0" y="0"/>
            <a:chExt cx="10925140" cy="165544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25140" cy="1655445"/>
            </a:xfrm>
            <a:custGeom>
              <a:avLst/>
              <a:gdLst/>
              <a:ahLst/>
              <a:cxnLst/>
              <a:rect r="r" b="b" t="t" l="l"/>
              <a:pathLst>
                <a:path h="1655445" w="10925140">
                  <a:moveTo>
                    <a:pt x="0" y="220726"/>
                  </a:moveTo>
                  <a:cubicBezTo>
                    <a:pt x="0" y="98872"/>
                    <a:pt x="48932" y="0"/>
                    <a:pt x="109238" y="0"/>
                  </a:cubicBezTo>
                  <a:lnTo>
                    <a:pt x="10815903" y="0"/>
                  </a:lnTo>
                  <a:cubicBezTo>
                    <a:pt x="10876208" y="0"/>
                    <a:pt x="10925140" y="98872"/>
                    <a:pt x="10925140" y="220726"/>
                  </a:cubicBezTo>
                  <a:lnTo>
                    <a:pt x="10925140" y="1434719"/>
                  </a:lnTo>
                  <a:cubicBezTo>
                    <a:pt x="10925140" y="1556573"/>
                    <a:pt x="10876208" y="1655445"/>
                    <a:pt x="10815903" y="1655445"/>
                  </a:cubicBezTo>
                  <a:lnTo>
                    <a:pt x="109238" y="1655445"/>
                  </a:lnTo>
                  <a:cubicBezTo>
                    <a:pt x="48932" y="1655445"/>
                    <a:pt x="0" y="1556573"/>
                    <a:pt x="0" y="1434719"/>
                  </a:cubicBezTo>
                  <a:close/>
                </a:path>
              </a:pathLst>
            </a:custGeom>
            <a:solidFill>
              <a:srgbClr val="151C4F"/>
            </a:solidFill>
            <a:ln w="14288" cap="sq">
              <a:solidFill>
                <a:srgbClr val="2C3680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537362" y="7528049"/>
            <a:ext cx="466344" cy="466344"/>
            <a:chOff x="0" y="0"/>
            <a:chExt cx="621792" cy="621792"/>
          </a:xfrm>
        </p:grpSpPr>
        <p:sp>
          <p:nvSpPr>
            <p:cNvPr name="Freeform 24" id="24" descr="quote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2291742" y="7144001"/>
            <a:ext cx="6870503" cy="1234440"/>
            <a:chOff x="0" y="0"/>
            <a:chExt cx="9160671" cy="16459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160671" cy="1645920"/>
            </a:xfrm>
            <a:custGeom>
              <a:avLst/>
              <a:gdLst/>
              <a:ahLst/>
              <a:cxnLst/>
              <a:rect r="r" b="b" t="t" l="l"/>
              <a:pathLst>
                <a:path h="1645920" w="9160671">
                  <a:moveTo>
                    <a:pt x="0" y="0"/>
                  </a:moveTo>
                  <a:lnTo>
                    <a:pt x="9160671" y="0"/>
                  </a:lnTo>
                  <a:lnTo>
                    <a:pt x="9160671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0964" r="-122194" b="-190964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9160671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i="true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An ounce of prevention is worth a pound of cure.</a:t>
              </a:r>
            </a:p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BENJAMIN FRANKLIN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83134" y="274501"/>
            <a:ext cx="16468725" cy="1171194"/>
            <a:chOff x="0" y="0"/>
            <a:chExt cx="21958300" cy="1561592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561592" cy="1561592"/>
              <a:chOff x="0" y="0"/>
              <a:chExt cx="1561592" cy="156159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561592" cy="1561592"/>
              </a:xfrm>
              <a:custGeom>
                <a:avLst/>
                <a:gdLst/>
                <a:ahLst/>
                <a:cxnLst/>
                <a:rect r="r" b="b" t="t" l="l"/>
                <a:pathLst>
                  <a:path h="1561592" w="1561592">
                    <a:moveTo>
                      <a:pt x="0" y="780796"/>
                    </a:moveTo>
                    <a:cubicBezTo>
                      <a:pt x="0" y="349631"/>
                      <a:pt x="349631" y="0"/>
                      <a:pt x="780796" y="0"/>
                    </a:cubicBezTo>
                    <a:cubicBezTo>
                      <a:pt x="1211961" y="0"/>
                      <a:pt x="1561592" y="349631"/>
                      <a:pt x="1561592" y="780796"/>
                    </a:cubicBezTo>
                    <a:cubicBezTo>
                      <a:pt x="1561592" y="1211961"/>
                      <a:pt x="1211961" y="1561592"/>
                      <a:pt x="780796" y="1561592"/>
                    </a:cubicBezTo>
                    <a:cubicBezTo>
                      <a:pt x="349631" y="1561592"/>
                      <a:pt x="0" y="1211961"/>
                      <a:pt x="0" y="780796"/>
                    </a:cubicBezTo>
                    <a:close/>
                  </a:path>
                </a:pathLst>
              </a:custGeom>
              <a:solidFill>
                <a:srgbClr val="22D3EE"/>
              </a:solidFill>
              <a:ln w="19050" cap="sq">
                <a:solidFill>
                  <a:srgbClr val="22D3EE"/>
                </a:solidFill>
                <a:prstDash val="solid"/>
                <a:miter/>
              </a:ln>
            </p:spPr>
          </p:sp>
        </p:grpSp>
        <p:grpSp>
          <p:nvGrpSpPr>
            <p:cNvPr name="Group 6" id="6"/>
            <p:cNvGrpSpPr/>
            <p:nvPr/>
          </p:nvGrpSpPr>
          <p:grpSpPr>
            <a:xfrm rot="0">
              <a:off x="427469" y="427469"/>
              <a:ext cx="706653" cy="706653"/>
              <a:chOff x="0" y="0"/>
              <a:chExt cx="706653" cy="706653"/>
            </a:xfrm>
          </p:grpSpPr>
          <p:sp>
            <p:nvSpPr>
              <p:cNvPr name="Freeform 7" id="7" descr="FaBolt"/>
              <p:cNvSpPr/>
              <p:nvPr/>
            </p:nvSpPr>
            <p:spPr>
              <a:xfrm flipH="false" flipV="false" rot="0">
                <a:off x="0" y="0"/>
                <a:ext cx="706628" cy="706628"/>
              </a:xfrm>
              <a:custGeom>
                <a:avLst/>
                <a:gdLst/>
                <a:ahLst/>
                <a:cxnLst/>
                <a:rect r="r" b="b" t="t" l="l"/>
                <a:pathLst>
                  <a:path h="706628" w="706628">
                    <a:moveTo>
                      <a:pt x="0" y="0"/>
                    </a:moveTo>
                    <a:lnTo>
                      <a:pt x="706628" y="0"/>
                    </a:lnTo>
                    <a:lnTo>
                      <a:pt x="706628" y="706628"/>
                    </a:lnTo>
                    <a:lnTo>
                      <a:pt x="0" y="70662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0" r="-3" b="-3"/>
                </a:stretch>
              </a:blipFill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2024380" y="49276"/>
              <a:ext cx="19933920" cy="1463040"/>
              <a:chOff x="0" y="0"/>
              <a:chExt cx="19933920" cy="146304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9933920" cy="1463040"/>
              </a:xfrm>
              <a:custGeom>
                <a:avLst/>
                <a:gdLst/>
                <a:ahLst/>
                <a:cxnLst/>
                <a:rect r="r" b="b" t="t" l="l"/>
                <a:pathLst>
                  <a:path h="1463040" w="19933920">
                    <a:moveTo>
                      <a:pt x="0" y="0"/>
                    </a:moveTo>
                    <a:lnTo>
                      <a:pt x="19933920" y="0"/>
                    </a:lnTo>
                    <a:lnTo>
                      <a:pt x="19933920" y="1463040"/>
                    </a:lnTo>
                    <a:lnTo>
                      <a:pt x="0" y="1463040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215483" r="0" b="-215483"/>
                </a:stretch>
              </a:blip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9525"/>
                <a:ext cx="19933920" cy="147256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6480"/>
                  </a:lnSpc>
                </a:pPr>
                <a:r>
                  <a:rPr lang="en-US" sz="5400" b="true">
                    <a:solidFill>
                      <a:srgbClr val="FFFFFF"/>
                    </a:solidFill>
                    <a:latin typeface="Cambria Bold"/>
                    <a:ea typeface="Cambria Bold"/>
                    <a:cs typeface="Cambria Bold"/>
                    <a:sym typeface="Cambria Bold"/>
                  </a:rPr>
                  <a:t>Proposed Solution</a:t>
                </a:r>
              </a:p>
            </p:txBody>
          </p:sp>
        </p:grpSp>
      </p:grpSp>
      <p:grpSp>
        <p:nvGrpSpPr>
          <p:cNvPr name="Group 11" id="11"/>
          <p:cNvGrpSpPr/>
          <p:nvPr/>
        </p:nvGrpSpPr>
        <p:grpSpPr>
          <a:xfrm rot="0">
            <a:off x="583134" y="2052402"/>
            <a:ext cx="16414007" cy="3226757"/>
            <a:chOff x="0" y="0"/>
            <a:chExt cx="21885343" cy="4302342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4758431" cy="4259367"/>
              <a:chOff x="0" y="0"/>
              <a:chExt cx="5231130" cy="468249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231130" cy="4682490"/>
              </a:xfrm>
              <a:custGeom>
                <a:avLst/>
                <a:gdLst/>
                <a:ahLst/>
                <a:cxnLst/>
                <a:rect r="r" b="b" t="t" l="l"/>
                <a:pathLst>
                  <a:path h="4682490" w="5231130">
                    <a:moveTo>
                      <a:pt x="0" y="220345"/>
                    </a:moveTo>
                    <a:cubicBezTo>
                      <a:pt x="0" y="98679"/>
                      <a:pt x="98679" y="0"/>
                      <a:pt x="220345" y="0"/>
                    </a:cubicBezTo>
                    <a:lnTo>
                      <a:pt x="5010785" y="0"/>
                    </a:lnTo>
                    <a:cubicBezTo>
                      <a:pt x="5132451" y="0"/>
                      <a:pt x="5231130" y="98679"/>
                      <a:pt x="5231130" y="220345"/>
                    </a:cubicBezTo>
                    <a:lnTo>
                      <a:pt x="5231130" y="4462145"/>
                    </a:lnTo>
                    <a:cubicBezTo>
                      <a:pt x="5231130" y="4583811"/>
                      <a:pt x="5132451" y="4682490"/>
                      <a:pt x="5010785" y="4682490"/>
                    </a:cubicBezTo>
                    <a:lnTo>
                      <a:pt x="220345" y="4682490"/>
                    </a:lnTo>
                    <a:cubicBezTo>
                      <a:pt x="98679" y="4682490"/>
                      <a:pt x="0" y="4583811"/>
                      <a:pt x="0" y="4462145"/>
                    </a:cubicBezTo>
                    <a:close/>
                  </a:path>
                </a:pathLst>
              </a:custGeom>
              <a:solidFill>
                <a:srgbClr val="151C4F"/>
              </a:solidFill>
              <a:ln w="14288" cap="sq">
                <a:solidFill>
                  <a:srgbClr val="2C3680"/>
                </a:solidFill>
                <a:prstDash val="solid"/>
                <a:miter/>
              </a:ln>
            </p:spPr>
          </p:sp>
        </p:grpSp>
        <p:grpSp>
          <p:nvGrpSpPr>
            <p:cNvPr name="Group 14" id="14"/>
            <p:cNvGrpSpPr/>
            <p:nvPr/>
          </p:nvGrpSpPr>
          <p:grpSpPr>
            <a:xfrm rot="0">
              <a:off x="412998" y="329821"/>
              <a:ext cx="1220857" cy="1220857"/>
              <a:chOff x="0" y="0"/>
              <a:chExt cx="1342136" cy="1342136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342136" cy="1342136"/>
              </a:xfrm>
              <a:custGeom>
                <a:avLst/>
                <a:gdLst/>
                <a:ahLst/>
                <a:cxnLst/>
                <a:rect r="r" b="b" t="t" l="l"/>
                <a:pathLst>
                  <a:path h="1342136" w="1342136">
                    <a:moveTo>
                      <a:pt x="0" y="671068"/>
                    </a:moveTo>
                    <a:cubicBezTo>
                      <a:pt x="0" y="300482"/>
                      <a:pt x="300482" y="0"/>
                      <a:pt x="671068" y="0"/>
                    </a:cubicBezTo>
                    <a:cubicBezTo>
                      <a:pt x="1041654" y="0"/>
                      <a:pt x="1342136" y="300482"/>
                      <a:pt x="1342136" y="671068"/>
                    </a:cubicBezTo>
                    <a:cubicBezTo>
                      <a:pt x="1342136" y="1041654"/>
                      <a:pt x="1041654" y="1342136"/>
                      <a:pt x="671068" y="1342136"/>
                    </a:cubicBezTo>
                    <a:cubicBezTo>
                      <a:pt x="300482" y="1342136"/>
                      <a:pt x="0" y="1041654"/>
                      <a:pt x="0" y="671068"/>
                    </a:cubicBezTo>
                    <a:close/>
                  </a:path>
                </a:pathLst>
              </a:custGeom>
              <a:solidFill>
                <a:srgbClr val="22D3EE"/>
              </a:solidFill>
              <a:ln w="19050" cap="sq">
                <a:solidFill>
                  <a:srgbClr val="22D3EE"/>
                </a:solidFill>
                <a:prstDash val="solid"/>
                <a:miter/>
              </a:ln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747948" y="664771"/>
              <a:ext cx="550968" cy="550968"/>
              <a:chOff x="0" y="0"/>
              <a:chExt cx="605701" cy="605701"/>
            </a:xfrm>
          </p:grpSpPr>
          <p:sp>
            <p:nvSpPr>
              <p:cNvPr name="Freeform 17" id="17" descr="FaFileCsv"/>
              <p:cNvSpPr/>
              <p:nvPr/>
            </p:nvSpPr>
            <p:spPr>
              <a:xfrm flipH="false" flipV="false" rot="0">
                <a:off x="0" y="0"/>
                <a:ext cx="605663" cy="605663"/>
              </a:xfrm>
              <a:custGeom>
                <a:avLst/>
                <a:gdLst/>
                <a:ahLst/>
                <a:cxnLst/>
                <a:rect r="r" b="b" t="t" l="l"/>
                <a:pathLst>
                  <a:path h="605663" w="605663">
                    <a:moveTo>
                      <a:pt x="0" y="0"/>
                    </a:moveTo>
                    <a:lnTo>
                      <a:pt x="605663" y="0"/>
                    </a:lnTo>
                    <a:lnTo>
                      <a:pt x="605663" y="605663"/>
                    </a:lnTo>
                    <a:lnTo>
                      <a:pt x="0" y="60566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l="0" t="0" r="-6" b="-6"/>
                </a:stretch>
              </a:blipFill>
            </p:spPr>
          </p:sp>
        </p:grpSp>
        <p:sp>
          <p:nvSpPr>
            <p:cNvPr name="TextBox 18" id="18"/>
            <p:cNvSpPr txBox="true"/>
            <p:nvPr/>
          </p:nvSpPr>
          <p:spPr>
            <a:xfrm rot="0">
              <a:off x="3668462" y="248671"/>
              <a:ext cx="831772" cy="10076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5894"/>
                </a:lnSpc>
              </a:pPr>
              <a:r>
                <a:rPr lang="en-US" sz="4912" b="true">
                  <a:solidFill>
                    <a:srgbClr val="22D3E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424550" y="1736336"/>
              <a:ext cx="3992507" cy="6844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2"/>
                </a:lnSpc>
              </a:pPr>
              <a:r>
                <a:rPr lang="en-US" sz="3001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Upload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424550" y="2465881"/>
              <a:ext cx="3992507" cy="16184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92"/>
                </a:lnSpc>
              </a:pPr>
              <a:r>
                <a:rPr lang="en-US" sz="1910">
                  <a:solidFill>
                    <a:srgbClr val="C9D3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Sensor CSV is validated before any database write</a:t>
              </a:r>
            </a:p>
          </p:txBody>
        </p:sp>
        <p:grpSp>
          <p:nvGrpSpPr>
            <p:cNvPr name="Group 21" id="21"/>
            <p:cNvGrpSpPr/>
            <p:nvPr/>
          </p:nvGrpSpPr>
          <p:grpSpPr>
            <a:xfrm rot="0">
              <a:off x="4944908" y="1550678"/>
              <a:ext cx="621981" cy="621981"/>
              <a:chOff x="0" y="0"/>
              <a:chExt cx="683768" cy="683768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683768" cy="683768"/>
              </a:xfrm>
              <a:custGeom>
                <a:avLst/>
                <a:gdLst/>
                <a:ahLst/>
                <a:cxnLst/>
                <a:rect r="r" b="b" t="t" l="l"/>
                <a:pathLst>
                  <a:path h="683768" w="683768">
                    <a:moveTo>
                      <a:pt x="0" y="341884"/>
                    </a:moveTo>
                    <a:cubicBezTo>
                      <a:pt x="0" y="153035"/>
                      <a:pt x="153035" y="0"/>
                      <a:pt x="341884" y="0"/>
                    </a:cubicBezTo>
                    <a:cubicBezTo>
                      <a:pt x="530733" y="0"/>
                      <a:pt x="683768" y="153035"/>
                      <a:pt x="683768" y="341884"/>
                    </a:cubicBezTo>
                    <a:cubicBezTo>
                      <a:pt x="683768" y="530733"/>
                      <a:pt x="530733" y="683768"/>
                      <a:pt x="341884" y="683768"/>
                    </a:cubicBezTo>
                    <a:cubicBezTo>
                      <a:pt x="153035" y="683768"/>
                      <a:pt x="0" y="530733"/>
                      <a:pt x="0" y="341884"/>
                    </a:cubicBezTo>
                    <a:close/>
                  </a:path>
                </a:pathLst>
              </a:custGeom>
              <a:solidFill>
                <a:srgbClr val="22D3EE"/>
              </a:solidFill>
              <a:ln w="19050" cap="sq">
                <a:solidFill>
                  <a:srgbClr val="22D3EE"/>
                </a:solidFill>
                <a:prstDash val="solid"/>
                <a:miter/>
              </a:ln>
            </p:spPr>
          </p:sp>
        </p:grpSp>
        <p:grpSp>
          <p:nvGrpSpPr>
            <p:cNvPr name="Group 23" id="23"/>
            <p:cNvGrpSpPr/>
            <p:nvPr/>
          </p:nvGrpSpPr>
          <p:grpSpPr>
            <a:xfrm rot="0">
              <a:off x="5122815" y="1728585"/>
              <a:ext cx="266167" cy="266167"/>
              <a:chOff x="0" y="0"/>
              <a:chExt cx="292608" cy="292608"/>
            </a:xfrm>
          </p:grpSpPr>
          <p:sp>
            <p:nvSpPr>
              <p:cNvPr name="Freeform 24" id="24" descr="next"/>
              <p:cNvSpPr/>
              <p:nvPr/>
            </p:nvSpPr>
            <p:spPr>
              <a:xfrm flipH="false" flipV="false" rot="0">
                <a:off x="0" y="0"/>
                <a:ext cx="292608" cy="292608"/>
              </a:xfrm>
              <a:custGeom>
                <a:avLst/>
                <a:gdLst/>
                <a:ahLst/>
                <a:cxnLst/>
                <a:rect r="r" b="b" t="t" l="l"/>
                <a:pathLst>
                  <a:path h="292608" w="292608">
                    <a:moveTo>
                      <a:pt x="0" y="0"/>
                    </a:moveTo>
                    <a:lnTo>
                      <a:pt x="292608" y="0"/>
                    </a:lnTo>
                    <a:lnTo>
                      <a:pt x="292608" y="292608"/>
                    </a:lnTo>
                    <a:lnTo>
                      <a:pt x="0" y="29260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l="0" t="0" r="0" b="0"/>
                </a:stretch>
              </a:blipFill>
            </p:spPr>
          </p:sp>
        </p:grpSp>
        <p:grpSp>
          <p:nvGrpSpPr>
            <p:cNvPr name="Group 25" id="25"/>
            <p:cNvGrpSpPr/>
            <p:nvPr/>
          </p:nvGrpSpPr>
          <p:grpSpPr>
            <a:xfrm rot="0">
              <a:off x="5718389" y="0"/>
              <a:ext cx="4758431" cy="4259367"/>
              <a:chOff x="0" y="0"/>
              <a:chExt cx="5231130" cy="468249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5231130" cy="4682490"/>
              </a:xfrm>
              <a:custGeom>
                <a:avLst/>
                <a:gdLst/>
                <a:ahLst/>
                <a:cxnLst/>
                <a:rect r="r" b="b" t="t" l="l"/>
                <a:pathLst>
                  <a:path h="4682490" w="5231130">
                    <a:moveTo>
                      <a:pt x="0" y="220345"/>
                    </a:moveTo>
                    <a:cubicBezTo>
                      <a:pt x="0" y="98679"/>
                      <a:pt x="98679" y="0"/>
                      <a:pt x="220345" y="0"/>
                    </a:cubicBezTo>
                    <a:lnTo>
                      <a:pt x="5010785" y="0"/>
                    </a:lnTo>
                    <a:cubicBezTo>
                      <a:pt x="5132451" y="0"/>
                      <a:pt x="5231130" y="98679"/>
                      <a:pt x="5231130" y="220345"/>
                    </a:cubicBezTo>
                    <a:lnTo>
                      <a:pt x="5231130" y="4462145"/>
                    </a:lnTo>
                    <a:cubicBezTo>
                      <a:pt x="5231130" y="4583811"/>
                      <a:pt x="5132451" y="4682490"/>
                      <a:pt x="5010785" y="4682490"/>
                    </a:cubicBezTo>
                    <a:lnTo>
                      <a:pt x="220345" y="4682490"/>
                    </a:lnTo>
                    <a:cubicBezTo>
                      <a:pt x="98679" y="4682490"/>
                      <a:pt x="0" y="4583811"/>
                      <a:pt x="0" y="4462145"/>
                    </a:cubicBezTo>
                    <a:close/>
                  </a:path>
                </a:pathLst>
              </a:custGeom>
              <a:solidFill>
                <a:srgbClr val="151C4F"/>
              </a:solidFill>
              <a:ln w="14288" cap="sq">
                <a:solidFill>
                  <a:srgbClr val="2C3680"/>
                </a:solidFill>
                <a:prstDash val="solid"/>
                <a:miter/>
              </a:ln>
            </p:spPr>
          </p:sp>
        </p:grpSp>
        <p:grpSp>
          <p:nvGrpSpPr>
            <p:cNvPr name="Group 27" id="27"/>
            <p:cNvGrpSpPr/>
            <p:nvPr/>
          </p:nvGrpSpPr>
          <p:grpSpPr>
            <a:xfrm rot="0">
              <a:off x="6131387" y="329821"/>
              <a:ext cx="1220857" cy="1220857"/>
              <a:chOff x="0" y="0"/>
              <a:chExt cx="1342136" cy="1342136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342136" cy="1342136"/>
              </a:xfrm>
              <a:custGeom>
                <a:avLst/>
                <a:gdLst/>
                <a:ahLst/>
                <a:cxnLst/>
                <a:rect r="r" b="b" t="t" l="l"/>
                <a:pathLst>
                  <a:path h="1342136" w="1342136">
                    <a:moveTo>
                      <a:pt x="0" y="671068"/>
                    </a:moveTo>
                    <a:cubicBezTo>
                      <a:pt x="0" y="300482"/>
                      <a:pt x="300482" y="0"/>
                      <a:pt x="671068" y="0"/>
                    </a:cubicBezTo>
                    <a:cubicBezTo>
                      <a:pt x="1041654" y="0"/>
                      <a:pt x="1342136" y="300482"/>
                      <a:pt x="1342136" y="671068"/>
                    </a:cubicBezTo>
                    <a:cubicBezTo>
                      <a:pt x="1342136" y="1041654"/>
                      <a:pt x="1041654" y="1342136"/>
                      <a:pt x="671068" y="1342136"/>
                    </a:cubicBezTo>
                    <a:cubicBezTo>
                      <a:pt x="300482" y="1342136"/>
                      <a:pt x="0" y="1041654"/>
                      <a:pt x="0" y="671068"/>
                    </a:cubicBezTo>
                    <a:close/>
                  </a:path>
                </a:pathLst>
              </a:custGeom>
              <a:solidFill>
                <a:srgbClr val="22D3EE"/>
              </a:solidFill>
              <a:ln w="19050" cap="sq">
                <a:solidFill>
                  <a:srgbClr val="22D3EE"/>
                </a:solidFill>
                <a:prstDash val="solid"/>
                <a:miter/>
              </a:ln>
            </p:spPr>
          </p:sp>
        </p:grpSp>
        <p:grpSp>
          <p:nvGrpSpPr>
            <p:cNvPr name="Group 29" id="29"/>
            <p:cNvGrpSpPr/>
            <p:nvPr/>
          </p:nvGrpSpPr>
          <p:grpSpPr>
            <a:xfrm rot="0">
              <a:off x="6466337" y="664771"/>
              <a:ext cx="550968" cy="550968"/>
              <a:chOff x="0" y="0"/>
              <a:chExt cx="605701" cy="605701"/>
            </a:xfrm>
          </p:grpSpPr>
          <p:sp>
            <p:nvSpPr>
              <p:cNvPr name="Freeform 30" id="30" descr="FaBrain"/>
              <p:cNvSpPr/>
              <p:nvPr/>
            </p:nvSpPr>
            <p:spPr>
              <a:xfrm flipH="false" flipV="false" rot="0">
                <a:off x="0" y="0"/>
                <a:ext cx="605663" cy="605663"/>
              </a:xfrm>
              <a:custGeom>
                <a:avLst/>
                <a:gdLst/>
                <a:ahLst/>
                <a:cxnLst/>
                <a:rect r="r" b="b" t="t" l="l"/>
                <a:pathLst>
                  <a:path h="605663" w="605663">
                    <a:moveTo>
                      <a:pt x="0" y="0"/>
                    </a:moveTo>
                    <a:lnTo>
                      <a:pt x="605663" y="0"/>
                    </a:lnTo>
                    <a:lnTo>
                      <a:pt x="605663" y="605663"/>
                    </a:lnTo>
                    <a:lnTo>
                      <a:pt x="0" y="60566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0" t="0" r="-6" b="-6"/>
                </a:stretch>
              </a:blipFill>
            </p:spPr>
          </p:sp>
        </p:grpSp>
        <p:sp>
          <p:nvSpPr>
            <p:cNvPr name="TextBox 31" id="31"/>
            <p:cNvSpPr txBox="true"/>
            <p:nvPr/>
          </p:nvSpPr>
          <p:spPr>
            <a:xfrm rot="0">
              <a:off x="9386851" y="248671"/>
              <a:ext cx="831772" cy="10076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5894"/>
                </a:lnSpc>
              </a:pPr>
              <a:r>
                <a:rPr lang="en-US" sz="4912" b="true">
                  <a:solidFill>
                    <a:srgbClr val="22D3E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6142939" y="1736336"/>
              <a:ext cx="3992507" cy="6844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2"/>
                </a:lnSpc>
              </a:pPr>
              <a:r>
                <a:rPr lang="en-US" sz="3001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Predict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6142939" y="2465881"/>
              <a:ext cx="3992507" cy="16184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92"/>
                </a:lnSpc>
              </a:pPr>
              <a:r>
                <a:rPr lang="en-US" sz="1910">
                  <a:solidFill>
                    <a:srgbClr val="C9D3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 models score each machine: overall plus 5 failure modes</a:t>
              </a:r>
            </a:p>
          </p:txBody>
        </p:sp>
        <p:grpSp>
          <p:nvGrpSpPr>
            <p:cNvPr name="Group 34" id="34"/>
            <p:cNvGrpSpPr/>
            <p:nvPr/>
          </p:nvGrpSpPr>
          <p:grpSpPr>
            <a:xfrm rot="0">
              <a:off x="11479800" y="42975"/>
              <a:ext cx="4758431" cy="4259367"/>
              <a:chOff x="0" y="0"/>
              <a:chExt cx="5231130" cy="468249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5231130" cy="4682490"/>
              </a:xfrm>
              <a:custGeom>
                <a:avLst/>
                <a:gdLst/>
                <a:ahLst/>
                <a:cxnLst/>
                <a:rect r="r" b="b" t="t" l="l"/>
                <a:pathLst>
                  <a:path h="4682490" w="5231130">
                    <a:moveTo>
                      <a:pt x="0" y="220345"/>
                    </a:moveTo>
                    <a:cubicBezTo>
                      <a:pt x="0" y="98679"/>
                      <a:pt x="98679" y="0"/>
                      <a:pt x="220345" y="0"/>
                    </a:cubicBezTo>
                    <a:lnTo>
                      <a:pt x="5010785" y="0"/>
                    </a:lnTo>
                    <a:cubicBezTo>
                      <a:pt x="5132451" y="0"/>
                      <a:pt x="5231130" y="98679"/>
                      <a:pt x="5231130" y="220345"/>
                    </a:cubicBezTo>
                    <a:lnTo>
                      <a:pt x="5231130" y="4462145"/>
                    </a:lnTo>
                    <a:cubicBezTo>
                      <a:pt x="5231130" y="4583811"/>
                      <a:pt x="5132451" y="4682490"/>
                      <a:pt x="5010785" y="4682490"/>
                    </a:cubicBezTo>
                    <a:lnTo>
                      <a:pt x="220345" y="4682490"/>
                    </a:lnTo>
                    <a:cubicBezTo>
                      <a:pt x="98679" y="4682490"/>
                      <a:pt x="0" y="4583811"/>
                      <a:pt x="0" y="4462145"/>
                    </a:cubicBezTo>
                    <a:close/>
                  </a:path>
                </a:pathLst>
              </a:custGeom>
              <a:solidFill>
                <a:srgbClr val="151C4F"/>
              </a:solidFill>
              <a:ln w="14288" cap="sq">
                <a:solidFill>
                  <a:srgbClr val="2C3680"/>
                </a:solidFill>
                <a:prstDash val="solid"/>
                <a:miter/>
              </a:ln>
            </p:spPr>
          </p:sp>
        </p:grpSp>
        <p:grpSp>
          <p:nvGrpSpPr>
            <p:cNvPr name="Group 36" id="36"/>
            <p:cNvGrpSpPr/>
            <p:nvPr/>
          </p:nvGrpSpPr>
          <p:grpSpPr>
            <a:xfrm rot="0">
              <a:off x="11892799" y="372796"/>
              <a:ext cx="1220857" cy="1220857"/>
              <a:chOff x="0" y="0"/>
              <a:chExt cx="1342136" cy="1342136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342136" cy="1342136"/>
              </a:xfrm>
              <a:custGeom>
                <a:avLst/>
                <a:gdLst/>
                <a:ahLst/>
                <a:cxnLst/>
                <a:rect r="r" b="b" t="t" l="l"/>
                <a:pathLst>
                  <a:path h="1342136" w="1342136">
                    <a:moveTo>
                      <a:pt x="0" y="671068"/>
                    </a:moveTo>
                    <a:cubicBezTo>
                      <a:pt x="0" y="300482"/>
                      <a:pt x="300482" y="0"/>
                      <a:pt x="671068" y="0"/>
                    </a:cubicBezTo>
                    <a:cubicBezTo>
                      <a:pt x="1041654" y="0"/>
                      <a:pt x="1342136" y="300482"/>
                      <a:pt x="1342136" y="671068"/>
                    </a:cubicBezTo>
                    <a:cubicBezTo>
                      <a:pt x="1342136" y="1041654"/>
                      <a:pt x="1041654" y="1342136"/>
                      <a:pt x="671068" y="1342136"/>
                    </a:cubicBezTo>
                    <a:cubicBezTo>
                      <a:pt x="300482" y="1342136"/>
                      <a:pt x="0" y="1041654"/>
                      <a:pt x="0" y="671068"/>
                    </a:cubicBezTo>
                    <a:close/>
                  </a:path>
                </a:pathLst>
              </a:custGeom>
              <a:solidFill>
                <a:srgbClr val="22D3EE"/>
              </a:solidFill>
              <a:ln w="19050" cap="sq">
                <a:solidFill>
                  <a:srgbClr val="22D3EE"/>
                </a:solidFill>
                <a:prstDash val="solid"/>
                <a:miter/>
              </a:ln>
            </p:spPr>
          </p:sp>
        </p:grpSp>
        <p:grpSp>
          <p:nvGrpSpPr>
            <p:cNvPr name="Group 38" id="38"/>
            <p:cNvGrpSpPr/>
            <p:nvPr/>
          </p:nvGrpSpPr>
          <p:grpSpPr>
            <a:xfrm rot="0">
              <a:off x="12227749" y="707746"/>
              <a:ext cx="550968" cy="550968"/>
              <a:chOff x="0" y="0"/>
              <a:chExt cx="605701" cy="605701"/>
            </a:xfrm>
          </p:grpSpPr>
          <p:sp>
            <p:nvSpPr>
              <p:cNvPr name="Freeform 39" id="39" descr="FaSearch"/>
              <p:cNvSpPr/>
              <p:nvPr/>
            </p:nvSpPr>
            <p:spPr>
              <a:xfrm flipH="false" flipV="false" rot="0">
                <a:off x="0" y="0"/>
                <a:ext cx="605663" cy="605663"/>
              </a:xfrm>
              <a:custGeom>
                <a:avLst/>
                <a:gdLst/>
                <a:ahLst/>
                <a:cxnLst/>
                <a:rect r="r" b="b" t="t" l="l"/>
                <a:pathLst>
                  <a:path h="605663" w="605663">
                    <a:moveTo>
                      <a:pt x="0" y="0"/>
                    </a:moveTo>
                    <a:lnTo>
                      <a:pt x="605663" y="0"/>
                    </a:lnTo>
                    <a:lnTo>
                      <a:pt x="605663" y="605663"/>
                    </a:lnTo>
                    <a:lnTo>
                      <a:pt x="0" y="60566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0" t="0" r="-6" b="-6"/>
                </a:stretch>
              </a:blipFill>
            </p:spPr>
          </p:sp>
        </p:grpSp>
        <p:sp>
          <p:nvSpPr>
            <p:cNvPr name="TextBox 40" id="40"/>
            <p:cNvSpPr txBox="true"/>
            <p:nvPr/>
          </p:nvSpPr>
          <p:spPr>
            <a:xfrm rot="0">
              <a:off x="15148263" y="291646"/>
              <a:ext cx="831772" cy="10076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5894"/>
                </a:lnSpc>
              </a:pPr>
              <a:r>
                <a:rPr lang="en-US" sz="4912" b="true">
                  <a:solidFill>
                    <a:srgbClr val="22D3E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11904351" y="1779311"/>
              <a:ext cx="3992507" cy="6844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2"/>
                </a:lnSpc>
              </a:pPr>
              <a:r>
                <a:rPr lang="en-US" sz="3001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Explain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11904351" y="2508856"/>
              <a:ext cx="3992507" cy="16184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92"/>
                </a:lnSpc>
              </a:pPr>
              <a:r>
                <a:rPr lang="en-US" sz="1910">
                  <a:solidFill>
                    <a:srgbClr val="C9D3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SHAP shows why, with a ranked list of fixes</a:t>
              </a:r>
            </a:p>
          </p:txBody>
        </p:sp>
        <p:grpSp>
          <p:nvGrpSpPr>
            <p:cNvPr name="Group 43" id="43"/>
            <p:cNvGrpSpPr/>
            <p:nvPr/>
          </p:nvGrpSpPr>
          <p:grpSpPr>
            <a:xfrm rot="0">
              <a:off x="17126912" y="42975"/>
              <a:ext cx="4758431" cy="4259367"/>
              <a:chOff x="0" y="0"/>
              <a:chExt cx="5231130" cy="468249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5231130" cy="4682490"/>
              </a:xfrm>
              <a:custGeom>
                <a:avLst/>
                <a:gdLst/>
                <a:ahLst/>
                <a:cxnLst/>
                <a:rect r="r" b="b" t="t" l="l"/>
                <a:pathLst>
                  <a:path h="4682490" w="5231130">
                    <a:moveTo>
                      <a:pt x="0" y="220345"/>
                    </a:moveTo>
                    <a:cubicBezTo>
                      <a:pt x="0" y="98679"/>
                      <a:pt x="98679" y="0"/>
                      <a:pt x="220345" y="0"/>
                    </a:cubicBezTo>
                    <a:lnTo>
                      <a:pt x="5010785" y="0"/>
                    </a:lnTo>
                    <a:cubicBezTo>
                      <a:pt x="5132451" y="0"/>
                      <a:pt x="5231130" y="98679"/>
                      <a:pt x="5231130" y="220345"/>
                    </a:cubicBezTo>
                    <a:lnTo>
                      <a:pt x="5231130" y="4462145"/>
                    </a:lnTo>
                    <a:cubicBezTo>
                      <a:pt x="5231130" y="4583811"/>
                      <a:pt x="5132451" y="4682490"/>
                      <a:pt x="5010785" y="4682490"/>
                    </a:cubicBezTo>
                    <a:lnTo>
                      <a:pt x="220345" y="4682490"/>
                    </a:lnTo>
                    <a:cubicBezTo>
                      <a:pt x="98679" y="4682490"/>
                      <a:pt x="0" y="4583811"/>
                      <a:pt x="0" y="4462145"/>
                    </a:cubicBezTo>
                    <a:close/>
                  </a:path>
                </a:pathLst>
              </a:custGeom>
              <a:solidFill>
                <a:srgbClr val="151C4F"/>
              </a:solidFill>
              <a:ln w="14288" cap="sq">
                <a:solidFill>
                  <a:srgbClr val="2C3680"/>
                </a:solidFill>
                <a:prstDash val="solid"/>
                <a:miter/>
              </a:ln>
            </p:spPr>
          </p:sp>
        </p:grpSp>
        <p:grpSp>
          <p:nvGrpSpPr>
            <p:cNvPr name="Group 45" id="45"/>
            <p:cNvGrpSpPr/>
            <p:nvPr/>
          </p:nvGrpSpPr>
          <p:grpSpPr>
            <a:xfrm rot="0">
              <a:off x="17539910" y="372796"/>
              <a:ext cx="1220857" cy="1220857"/>
              <a:chOff x="0" y="0"/>
              <a:chExt cx="1342136" cy="1342136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1342136" cy="1342136"/>
              </a:xfrm>
              <a:custGeom>
                <a:avLst/>
                <a:gdLst/>
                <a:ahLst/>
                <a:cxnLst/>
                <a:rect r="r" b="b" t="t" l="l"/>
                <a:pathLst>
                  <a:path h="1342136" w="1342136">
                    <a:moveTo>
                      <a:pt x="0" y="671068"/>
                    </a:moveTo>
                    <a:cubicBezTo>
                      <a:pt x="0" y="300482"/>
                      <a:pt x="300482" y="0"/>
                      <a:pt x="671068" y="0"/>
                    </a:cubicBezTo>
                    <a:cubicBezTo>
                      <a:pt x="1041654" y="0"/>
                      <a:pt x="1342136" y="300482"/>
                      <a:pt x="1342136" y="671068"/>
                    </a:cubicBezTo>
                    <a:cubicBezTo>
                      <a:pt x="1342136" y="1041654"/>
                      <a:pt x="1041654" y="1342136"/>
                      <a:pt x="671068" y="1342136"/>
                    </a:cubicBezTo>
                    <a:cubicBezTo>
                      <a:pt x="300482" y="1342136"/>
                      <a:pt x="0" y="1041654"/>
                      <a:pt x="0" y="671068"/>
                    </a:cubicBezTo>
                    <a:close/>
                  </a:path>
                </a:pathLst>
              </a:custGeom>
              <a:solidFill>
                <a:srgbClr val="22D3EE"/>
              </a:solidFill>
              <a:ln w="19050" cap="sq">
                <a:solidFill>
                  <a:srgbClr val="22D3EE"/>
                </a:solidFill>
                <a:prstDash val="solid"/>
                <a:miter/>
              </a:ln>
            </p:spPr>
          </p:sp>
        </p:grpSp>
        <p:grpSp>
          <p:nvGrpSpPr>
            <p:cNvPr name="Group 47" id="47"/>
            <p:cNvGrpSpPr/>
            <p:nvPr/>
          </p:nvGrpSpPr>
          <p:grpSpPr>
            <a:xfrm rot="0">
              <a:off x="17874860" y="707746"/>
              <a:ext cx="550968" cy="550968"/>
              <a:chOff x="0" y="0"/>
              <a:chExt cx="605701" cy="605701"/>
            </a:xfrm>
          </p:grpSpPr>
          <p:sp>
            <p:nvSpPr>
              <p:cNvPr name="Freeform 48" id="48" descr="FaClipboardCheck"/>
              <p:cNvSpPr/>
              <p:nvPr/>
            </p:nvSpPr>
            <p:spPr>
              <a:xfrm flipH="false" flipV="false" rot="0">
                <a:off x="0" y="0"/>
                <a:ext cx="605663" cy="605663"/>
              </a:xfrm>
              <a:custGeom>
                <a:avLst/>
                <a:gdLst/>
                <a:ahLst/>
                <a:cxnLst/>
                <a:rect r="r" b="b" t="t" l="l"/>
                <a:pathLst>
                  <a:path h="605663" w="605663">
                    <a:moveTo>
                      <a:pt x="0" y="0"/>
                    </a:moveTo>
                    <a:lnTo>
                      <a:pt x="605663" y="0"/>
                    </a:lnTo>
                    <a:lnTo>
                      <a:pt x="605663" y="605663"/>
                    </a:lnTo>
                    <a:lnTo>
                      <a:pt x="0" y="60566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l="0" t="0" r="-6" b="-6"/>
                </a:stretch>
              </a:blipFill>
            </p:spPr>
          </p:sp>
        </p:grpSp>
        <p:sp>
          <p:nvSpPr>
            <p:cNvPr name="TextBox 49" id="49"/>
            <p:cNvSpPr txBox="true"/>
            <p:nvPr/>
          </p:nvSpPr>
          <p:spPr>
            <a:xfrm rot="0">
              <a:off x="20795374" y="291646"/>
              <a:ext cx="831772" cy="10076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5894"/>
                </a:lnSpc>
              </a:pPr>
              <a:r>
                <a:rPr lang="en-US" sz="4912" b="true">
                  <a:solidFill>
                    <a:srgbClr val="22D3E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17551462" y="1779311"/>
              <a:ext cx="3992507" cy="6844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2"/>
                </a:lnSpc>
              </a:pPr>
              <a:r>
                <a:rPr lang="en-US" sz="3001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Act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17551462" y="2508856"/>
              <a:ext cx="3992507" cy="16184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92"/>
                </a:lnSpc>
              </a:pPr>
              <a:r>
                <a:rPr lang="en-US" sz="1910">
                  <a:solidFill>
                    <a:srgbClr val="C9D3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Engineer approves, technician fixes, manager verifies</a:t>
              </a:r>
            </a:p>
          </p:txBody>
        </p:sp>
        <p:grpSp>
          <p:nvGrpSpPr>
            <p:cNvPr name="Group 52" id="52"/>
            <p:cNvGrpSpPr/>
            <p:nvPr/>
          </p:nvGrpSpPr>
          <p:grpSpPr>
            <a:xfrm rot="0">
              <a:off x="16371581" y="1550678"/>
              <a:ext cx="621981" cy="621981"/>
              <a:chOff x="0" y="0"/>
              <a:chExt cx="683768" cy="683768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683768" cy="683768"/>
              </a:xfrm>
              <a:custGeom>
                <a:avLst/>
                <a:gdLst/>
                <a:ahLst/>
                <a:cxnLst/>
                <a:rect r="r" b="b" t="t" l="l"/>
                <a:pathLst>
                  <a:path h="683768" w="683768">
                    <a:moveTo>
                      <a:pt x="0" y="341884"/>
                    </a:moveTo>
                    <a:cubicBezTo>
                      <a:pt x="0" y="153035"/>
                      <a:pt x="153035" y="0"/>
                      <a:pt x="341884" y="0"/>
                    </a:cubicBezTo>
                    <a:cubicBezTo>
                      <a:pt x="530733" y="0"/>
                      <a:pt x="683768" y="153035"/>
                      <a:pt x="683768" y="341884"/>
                    </a:cubicBezTo>
                    <a:cubicBezTo>
                      <a:pt x="683768" y="530733"/>
                      <a:pt x="530733" y="683768"/>
                      <a:pt x="341884" y="683768"/>
                    </a:cubicBezTo>
                    <a:cubicBezTo>
                      <a:pt x="153035" y="683768"/>
                      <a:pt x="0" y="530733"/>
                      <a:pt x="0" y="341884"/>
                    </a:cubicBezTo>
                    <a:close/>
                  </a:path>
                </a:pathLst>
              </a:custGeom>
              <a:solidFill>
                <a:srgbClr val="22D3EE"/>
              </a:solidFill>
              <a:ln w="19050" cap="sq">
                <a:solidFill>
                  <a:srgbClr val="22D3EE"/>
                </a:solidFill>
                <a:prstDash val="solid"/>
                <a:miter/>
              </a:ln>
            </p:spPr>
          </p:sp>
        </p:grpSp>
        <p:grpSp>
          <p:nvGrpSpPr>
            <p:cNvPr name="Group 54" id="54"/>
            <p:cNvGrpSpPr/>
            <p:nvPr/>
          </p:nvGrpSpPr>
          <p:grpSpPr>
            <a:xfrm rot="0">
              <a:off x="16549488" y="1728585"/>
              <a:ext cx="266167" cy="266167"/>
              <a:chOff x="0" y="0"/>
              <a:chExt cx="292608" cy="292608"/>
            </a:xfrm>
          </p:grpSpPr>
          <p:sp>
            <p:nvSpPr>
              <p:cNvPr name="Freeform 55" id="55" descr="next"/>
              <p:cNvSpPr/>
              <p:nvPr/>
            </p:nvSpPr>
            <p:spPr>
              <a:xfrm flipH="false" flipV="false" rot="0">
                <a:off x="0" y="0"/>
                <a:ext cx="292608" cy="292608"/>
              </a:xfrm>
              <a:custGeom>
                <a:avLst/>
                <a:gdLst/>
                <a:ahLst/>
                <a:cxnLst/>
                <a:rect r="r" b="b" t="t" l="l"/>
                <a:pathLst>
                  <a:path h="292608" w="292608">
                    <a:moveTo>
                      <a:pt x="0" y="0"/>
                    </a:moveTo>
                    <a:lnTo>
                      <a:pt x="292608" y="0"/>
                    </a:lnTo>
                    <a:lnTo>
                      <a:pt x="292608" y="292608"/>
                    </a:lnTo>
                    <a:lnTo>
                      <a:pt x="0" y="29260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l="0" t="0" r="0" b="0"/>
                </a:stretch>
              </a:blipFill>
            </p:spPr>
          </p:sp>
        </p:grpSp>
        <p:grpSp>
          <p:nvGrpSpPr>
            <p:cNvPr name="Group 56" id="56"/>
            <p:cNvGrpSpPr/>
            <p:nvPr/>
          </p:nvGrpSpPr>
          <p:grpSpPr>
            <a:xfrm rot="0">
              <a:off x="10667320" y="1550678"/>
              <a:ext cx="621981" cy="621981"/>
              <a:chOff x="0" y="0"/>
              <a:chExt cx="683768" cy="683768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683768" cy="683768"/>
              </a:xfrm>
              <a:custGeom>
                <a:avLst/>
                <a:gdLst/>
                <a:ahLst/>
                <a:cxnLst/>
                <a:rect r="r" b="b" t="t" l="l"/>
                <a:pathLst>
                  <a:path h="683768" w="683768">
                    <a:moveTo>
                      <a:pt x="0" y="341884"/>
                    </a:moveTo>
                    <a:cubicBezTo>
                      <a:pt x="0" y="153035"/>
                      <a:pt x="153035" y="0"/>
                      <a:pt x="341884" y="0"/>
                    </a:cubicBezTo>
                    <a:cubicBezTo>
                      <a:pt x="530733" y="0"/>
                      <a:pt x="683768" y="153035"/>
                      <a:pt x="683768" y="341884"/>
                    </a:cubicBezTo>
                    <a:cubicBezTo>
                      <a:pt x="683768" y="530733"/>
                      <a:pt x="530733" y="683768"/>
                      <a:pt x="341884" y="683768"/>
                    </a:cubicBezTo>
                    <a:cubicBezTo>
                      <a:pt x="153035" y="683768"/>
                      <a:pt x="0" y="530733"/>
                      <a:pt x="0" y="341884"/>
                    </a:cubicBezTo>
                    <a:close/>
                  </a:path>
                </a:pathLst>
              </a:custGeom>
              <a:solidFill>
                <a:srgbClr val="22D3EE"/>
              </a:solidFill>
              <a:ln w="19050" cap="sq">
                <a:solidFill>
                  <a:srgbClr val="22D3EE"/>
                </a:solidFill>
                <a:prstDash val="solid"/>
                <a:miter/>
              </a:ln>
            </p:spPr>
          </p:sp>
        </p:grpSp>
        <p:grpSp>
          <p:nvGrpSpPr>
            <p:cNvPr name="Group 58" id="58"/>
            <p:cNvGrpSpPr/>
            <p:nvPr/>
          </p:nvGrpSpPr>
          <p:grpSpPr>
            <a:xfrm rot="0">
              <a:off x="10845226" y="1728585"/>
              <a:ext cx="266167" cy="266167"/>
              <a:chOff x="0" y="0"/>
              <a:chExt cx="292608" cy="292608"/>
            </a:xfrm>
          </p:grpSpPr>
          <p:sp>
            <p:nvSpPr>
              <p:cNvPr name="Freeform 59" id="59" descr="next"/>
              <p:cNvSpPr/>
              <p:nvPr/>
            </p:nvSpPr>
            <p:spPr>
              <a:xfrm flipH="false" flipV="false" rot="0">
                <a:off x="0" y="0"/>
                <a:ext cx="292608" cy="292608"/>
              </a:xfrm>
              <a:custGeom>
                <a:avLst/>
                <a:gdLst/>
                <a:ahLst/>
                <a:cxnLst/>
                <a:rect r="r" b="b" t="t" l="l"/>
                <a:pathLst>
                  <a:path h="292608" w="292608">
                    <a:moveTo>
                      <a:pt x="0" y="0"/>
                    </a:moveTo>
                    <a:lnTo>
                      <a:pt x="292608" y="0"/>
                    </a:lnTo>
                    <a:lnTo>
                      <a:pt x="292608" y="292608"/>
                    </a:lnTo>
                    <a:lnTo>
                      <a:pt x="0" y="29260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l="0" t="0" r="0" b="0"/>
                </a:stretch>
              </a:blipFill>
            </p:spPr>
          </p:sp>
        </p:grpSp>
      </p:grpSp>
      <p:grpSp>
        <p:nvGrpSpPr>
          <p:cNvPr name="Group 60" id="60"/>
          <p:cNvGrpSpPr/>
          <p:nvPr/>
        </p:nvGrpSpPr>
        <p:grpSpPr>
          <a:xfrm rot="0">
            <a:off x="583134" y="8388642"/>
            <a:ext cx="7232781" cy="754144"/>
            <a:chOff x="0" y="0"/>
            <a:chExt cx="9643708" cy="1005525"/>
          </a:xfrm>
        </p:grpSpPr>
        <p:grpSp>
          <p:nvGrpSpPr>
            <p:cNvPr name="Group 61" id="61"/>
            <p:cNvGrpSpPr/>
            <p:nvPr/>
          </p:nvGrpSpPr>
          <p:grpSpPr>
            <a:xfrm rot="0">
              <a:off x="375667" y="0"/>
              <a:ext cx="8604222" cy="853530"/>
              <a:chOff x="0" y="0"/>
              <a:chExt cx="33478689" cy="3321050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33478688" cy="3321050"/>
              </a:xfrm>
              <a:custGeom>
                <a:avLst/>
                <a:gdLst/>
                <a:ahLst/>
                <a:cxnLst/>
                <a:rect r="r" b="b" t="t" l="l"/>
                <a:pathLst>
                  <a:path h="3321050" w="33478688">
                    <a:moveTo>
                      <a:pt x="0" y="185321"/>
                    </a:moveTo>
                    <a:cubicBezTo>
                      <a:pt x="0" y="82946"/>
                      <a:pt x="416194" y="0"/>
                      <a:pt x="929874" y="0"/>
                    </a:cubicBezTo>
                    <a:lnTo>
                      <a:pt x="32548813" y="0"/>
                    </a:lnTo>
                    <a:cubicBezTo>
                      <a:pt x="33062497" y="0"/>
                      <a:pt x="33478688" y="82946"/>
                      <a:pt x="33478688" y="185321"/>
                    </a:cubicBezTo>
                    <a:lnTo>
                      <a:pt x="33478688" y="3135729"/>
                    </a:lnTo>
                    <a:cubicBezTo>
                      <a:pt x="33478688" y="3238104"/>
                      <a:pt x="33062497" y="3321050"/>
                      <a:pt x="32548813" y="3321050"/>
                    </a:cubicBezTo>
                    <a:lnTo>
                      <a:pt x="929874" y="3321050"/>
                    </a:lnTo>
                    <a:cubicBezTo>
                      <a:pt x="416194" y="3321050"/>
                      <a:pt x="0" y="3238104"/>
                      <a:pt x="0" y="3135729"/>
                    </a:cubicBezTo>
                    <a:close/>
                  </a:path>
                </a:pathLst>
              </a:custGeom>
              <a:solidFill>
                <a:srgbClr val="22D3EE"/>
              </a:solidFill>
              <a:ln w="14288" cap="sq">
                <a:solidFill>
                  <a:srgbClr val="22D3EE"/>
                </a:solidFill>
                <a:prstDash val="solid"/>
                <a:miter/>
              </a:ln>
            </p:spPr>
          </p:sp>
        </p:grpSp>
        <p:sp>
          <p:nvSpPr>
            <p:cNvPr name="TextBox 63" id="63"/>
            <p:cNvSpPr txBox="true"/>
            <p:nvPr/>
          </p:nvSpPr>
          <p:spPr>
            <a:xfrm rot="0">
              <a:off x="0" y="180928"/>
              <a:ext cx="9643708" cy="8245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13"/>
                </a:lnSpc>
              </a:pPr>
              <a:r>
                <a:rPr lang="en-US" sz="2011" b="true">
                  <a:solidFill>
                    <a:srgbClr val="0A0F2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AI recommends. Humans approve.</a:t>
              </a:r>
            </a:p>
            <a:p>
              <a:pPr algn="ctr">
                <a:lnSpc>
                  <a:spcPts val="2413"/>
                </a:lnSpc>
              </a:pPr>
            </a:p>
          </p:txBody>
        </p:sp>
      </p:grpSp>
      <p:sp>
        <p:nvSpPr>
          <p:cNvPr name="Freeform 64" id="64"/>
          <p:cNvSpPr/>
          <p:nvPr/>
        </p:nvSpPr>
        <p:spPr>
          <a:xfrm flipH="false" flipV="false" rot="0">
            <a:off x="9144000" y="5703403"/>
            <a:ext cx="8472946" cy="4381613"/>
          </a:xfrm>
          <a:custGeom>
            <a:avLst/>
            <a:gdLst/>
            <a:ahLst/>
            <a:cxnLst/>
            <a:rect r="r" b="b" t="t" l="l"/>
            <a:pathLst>
              <a:path h="4381613" w="8472946">
                <a:moveTo>
                  <a:pt x="0" y="0"/>
                </a:moveTo>
                <a:lnTo>
                  <a:pt x="8472946" y="0"/>
                </a:lnTo>
                <a:lnTo>
                  <a:pt x="8472946" y="4381613"/>
                </a:lnTo>
                <a:lnTo>
                  <a:pt x="0" y="438161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717" t="-4684" r="-1717" b="0"/>
            </a:stretch>
          </a:blipFill>
        </p:spPr>
      </p:sp>
      <p:grpSp>
        <p:nvGrpSpPr>
          <p:cNvPr name="Group 65" id="65"/>
          <p:cNvGrpSpPr/>
          <p:nvPr/>
        </p:nvGrpSpPr>
        <p:grpSpPr>
          <a:xfrm rot="0">
            <a:off x="583134" y="6060732"/>
            <a:ext cx="8789691" cy="1546860"/>
            <a:chOff x="0" y="0"/>
            <a:chExt cx="11719587" cy="2062480"/>
          </a:xfrm>
        </p:grpSpPr>
        <p:sp>
          <p:nvSpPr>
            <p:cNvPr name="TextBox 66" id="66"/>
            <p:cNvSpPr txBox="true"/>
            <p:nvPr/>
          </p:nvSpPr>
          <p:spPr>
            <a:xfrm rot="0">
              <a:off x="0" y="-38100"/>
              <a:ext cx="9502368" cy="393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b="true" sz="1800" spc="450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MAKES IT DIFFERENT</a:t>
              </a:r>
            </a:p>
          </p:txBody>
        </p:sp>
        <p:sp>
          <p:nvSpPr>
            <p:cNvPr name="TextBox 67" id="67"/>
            <p:cNvSpPr txBox="true"/>
            <p:nvPr/>
          </p:nvSpPr>
          <p:spPr>
            <a:xfrm rot="0">
              <a:off x="0" y="490855"/>
              <a:ext cx="11719587" cy="1571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61486" indent="-230743" lvl="1">
                <a:lnSpc>
                  <a:spcPts val="3060"/>
                </a:lnSpc>
                <a:buFont typeface="Arial"/>
                <a:buChar char="•"/>
              </a:pPr>
              <a:r>
                <a:rPr lang="en-US" sz="25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Not a black box: every score comes with a reason</a:t>
              </a:r>
            </a:p>
            <a:p>
              <a:pPr algn="l" marL="461486" indent="-230743" lvl="1">
                <a:lnSpc>
                  <a:spcPts val="3060"/>
                </a:lnSpc>
                <a:buFont typeface="Arial"/>
                <a:buChar char="•"/>
              </a:pPr>
              <a:r>
                <a:rPr lang="en-US" sz="25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What-if simulator finds a lower-risk setting</a:t>
              </a:r>
            </a:p>
            <a:p>
              <a:pPr algn="l" marL="461486" indent="-230743" lvl="1">
                <a:lnSpc>
                  <a:spcPts val="3060"/>
                </a:lnSpc>
                <a:buFont typeface="Arial"/>
                <a:buChar char="•"/>
              </a:pPr>
              <a:r>
                <a:rPr lang="en-US" sz="25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Never auto-stops a machine; humans stay in charge</a:t>
              </a: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13435" y="978027"/>
            <a:ext cx="1171194" cy="1171194"/>
            <a:chOff x="0" y="0"/>
            <a:chExt cx="1561592" cy="1561592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561592" cy="1561592"/>
              <a:chOff x="0" y="0"/>
              <a:chExt cx="1561592" cy="156159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561592" cy="1561592"/>
              </a:xfrm>
              <a:custGeom>
                <a:avLst/>
                <a:gdLst/>
                <a:ahLst/>
                <a:cxnLst/>
                <a:rect r="r" b="b" t="t" l="l"/>
                <a:pathLst>
                  <a:path h="1561592" w="1561592">
                    <a:moveTo>
                      <a:pt x="0" y="780796"/>
                    </a:moveTo>
                    <a:cubicBezTo>
                      <a:pt x="0" y="349631"/>
                      <a:pt x="349631" y="0"/>
                      <a:pt x="780796" y="0"/>
                    </a:cubicBezTo>
                    <a:cubicBezTo>
                      <a:pt x="1211961" y="0"/>
                      <a:pt x="1561592" y="349631"/>
                      <a:pt x="1561592" y="780796"/>
                    </a:cubicBezTo>
                    <a:cubicBezTo>
                      <a:pt x="1561592" y="1211961"/>
                      <a:pt x="1211961" y="1561592"/>
                      <a:pt x="780796" y="1561592"/>
                    </a:cubicBezTo>
                    <a:cubicBezTo>
                      <a:pt x="349631" y="1561592"/>
                      <a:pt x="0" y="1211961"/>
                      <a:pt x="0" y="780796"/>
                    </a:cubicBezTo>
                    <a:close/>
                  </a:path>
                </a:pathLst>
              </a:custGeom>
              <a:solidFill>
                <a:srgbClr val="22D3EE"/>
              </a:solidFill>
              <a:ln w="19050" cap="sq">
                <a:solidFill>
                  <a:srgbClr val="22D3EE"/>
                </a:solidFill>
                <a:prstDash val="solid"/>
                <a:miter/>
              </a:ln>
            </p:spPr>
          </p:sp>
        </p:grpSp>
        <p:grpSp>
          <p:nvGrpSpPr>
            <p:cNvPr name="Group 6" id="6"/>
            <p:cNvGrpSpPr/>
            <p:nvPr/>
          </p:nvGrpSpPr>
          <p:grpSpPr>
            <a:xfrm rot="0">
              <a:off x="427469" y="427469"/>
              <a:ext cx="706653" cy="706653"/>
              <a:chOff x="0" y="0"/>
              <a:chExt cx="706653" cy="706653"/>
            </a:xfrm>
          </p:grpSpPr>
          <p:sp>
            <p:nvSpPr>
              <p:cNvPr name="Freeform 7" id="7" descr="FaMicrochip"/>
              <p:cNvSpPr/>
              <p:nvPr/>
            </p:nvSpPr>
            <p:spPr>
              <a:xfrm flipH="false" flipV="false" rot="0">
                <a:off x="0" y="0"/>
                <a:ext cx="706628" cy="706628"/>
              </a:xfrm>
              <a:custGeom>
                <a:avLst/>
                <a:gdLst/>
                <a:ahLst/>
                <a:cxnLst/>
                <a:rect r="r" b="b" t="t" l="l"/>
                <a:pathLst>
                  <a:path h="706628" w="706628">
                    <a:moveTo>
                      <a:pt x="0" y="0"/>
                    </a:moveTo>
                    <a:lnTo>
                      <a:pt x="706628" y="0"/>
                    </a:lnTo>
                    <a:lnTo>
                      <a:pt x="706628" y="706628"/>
                    </a:lnTo>
                    <a:lnTo>
                      <a:pt x="0" y="70662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0" r="-3" b="-3"/>
                </a:stretch>
              </a:blipFill>
            </p:spPr>
          </p:sp>
        </p:grpSp>
      </p:grpSp>
      <p:grpSp>
        <p:nvGrpSpPr>
          <p:cNvPr name="Group 8" id="8"/>
          <p:cNvGrpSpPr/>
          <p:nvPr/>
        </p:nvGrpSpPr>
        <p:grpSpPr>
          <a:xfrm rot="0">
            <a:off x="2308860" y="507142"/>
            <a:ext cx="14950440" cy="1097280"/>
            <a:chOff x="0" y="0"/>
            <a:chExt cx="19933920" cy="1463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339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9933920">
                  <a:moveTo>
                    <a:pt x="0" y="0"/>
                  </a:moveTo>
                  <a:lnTo>
                    <a:pt x="19933920" y="0"/>
                  </a:lnTo>
                  <a:lnTo>
                    <a:pt x="199339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5483" r="0" b="-21548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993392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Tech Stack &amp; Architecture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73500" y="2511052"/>
            <a:ext cx="15541001" cy="7060633"/>
            <a:chOff x="0" y="0"/>
            <a:chExt cx="20721334" cy="9414178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6239278"/>
              <a:ext cx="10173274" cy="3174900"/>
              <a:chOff x="0" y="0"/>
              <a:chExt cx="11488023" cy="358521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1488023" cy="3585210"/>
              </a:xfrm>
              <a:custGeom>
                <a:avLst/>
                <a:gdLst/>
                <a:ahLst/>
                <a:cxnLst/>
                <a:rect r="r" b="b" t="t" l="l"/>
                <a:pathLst>
                  <a:path h="3585210" w="11488023">
                    <a:moveTo>
                      <a:pt x="0" y="220599"/>
                    </a:moveTo>
                    <a:cubicBezTo>
                      <a:pt x="0" y="98806"/>
                      <a:pt x="104132" y="0"/>
                      <a:pt x="232491" y="0"/>
                    </a:cubicBezTo>
                    <a:lnTo>
                      <a:pt x="11255532" y="0"/>
                    </a:lnTo>
                    <a:cubicBezTo>
                      <a:pt x="11383891" y="0"/>
                      <a:pt x="11488023" y="98806"/>
                      <a:pt x="11488023" y="220599"/>
                    </a:cubicBezTo>
                    <a:lnTo>
                      <a:pt x="11488023" y="3364611"/>
                    </a:lnTo>
                    <a:cubicBezTo>
                      <a:pt x="11488023" y="3486404"/>
                      <a:pt x="11383891" y="3585210"/>
                      <a:pt x="11255532" y="3585210"/>
                    </a:cubicBezTo>
                    <a:lnTo>
                      <a:pt x="232491" y="3585210"/>
                    </a:lnTo>
                    <a:cubicBezTo>
                      <a:pt x="104132" y="3585210"/>
                      <a:pt x="0" y="3486404"/>
                      <a:pt x="0" y="3364611"/>
                    </a:cubicBezTo>
                    <a:close/>
                  </a:path>
                </a:pathLst>
              </a:custGeom>
              <a:solidFill>
                <a:srgbClr val="151C4F"/>
              </a:solidFill>
              <a:ln w="14288" cap="sq">
                <a:solidFill>
                  <a:srgbClr val="2C3680"/>
                </a:solidFill>
                <a:prstDash val="solid"/>
                <a:miter/>
              </a:ln>
            </p:spPr>
          </p:sp>
        </p:grpSp>
        <p:sp>
          <p:nvSpPr>
            <p:cNvPr name="TextBox 14" id="14"/>
            <p:cNvSpPr txBox="true"/>
            <p:nvPr/>
          </p:nvSpPr>
          <p:spPr>
            <a:xfrm rot="0">
              <a:off x="520931" y="6570930"/>
              <a:ext cx="9046071" cy="3434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b="true" sz="1593" spc="398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AMBITIOUS &amp; PROUD OF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520931" y="7252153"/>
              <a:ext cx="9216752" cy="13142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79526" indent="-189763" lvl="1">
                <a:lnSpc>
                  <a:spcPts val="2516"/>
                </a:lnSpc>
                <a:buFont typeface="Arial"/>
                <a:buChar char="•"/>
              </a:pPr>
              <a:r>
                <a:rPr lang="en-US" sz="2097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SHAP reason behind every prediction</a:t>
              </a:r>
            </a:p>
            <a:p>
              <a:pPr algn="l" marL="379526" indent="-189763" lvl="1">
                <a:lnSpc>
                  <a:spcPts val="2516"/>
                </a:lnSpc>
                <a:buFont typeface="Arial"/>
                <a:buChar char="•"/>
              </a:pPr>
              <a:r>
                <a:rPr lang="en-US" sz="2097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10,000 readings scored in about 74 s</a:t>
              </a:r>
            </a:p>
            <a:p>
              <a:pPr algn="l" marL="379526" indent="-189763" lvl="1">
                <a:lnSpc>
                  <a:spcPts val="2516"/>
                </a:lnSpc>
                <a:buFont typeface="Arial"/>
                <a:buChar char="•"/>
              </a:pPr>
              <a:r>
                <a:rPr lang="en-US" sz="2097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Server-enforced 3-role workflow with SLAs</a:t>
              </a:r>
            </a:p>
          </p:txBody>
        </p:sp>
        <p:grpSp>
          <p:nvGrpSpPr>
            <p:cNvPr name="Group 16" id="16"/>
            <p:cNvGrpSpPr/>
            <p:nvPr/>
          </p:nvGrpSpPr>
          <p:grpSpPr>
            <a:xfrm rot="0">
              <a:off x="10548060" y="6239278"/>
              <a:ext cx="10173274" cy="3174900"/>
              <a:chOff x="0" y="0"/>
              <a:chExt cx="11488023" cy="358521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1488023" cy="3585210"/>
              </a:xfrm>
              <a:custGeom>
                <a:avLst/>
                <a:gdLst/>
                <a:ahLst/>
                <a:cxnLst/>
                <a:rect r="r" b="b" t="t" l="l"/>
                <a:pathLst>
                  <a:path h="3585210" w="11488023">
                    <a:moveTo>
                      <a:pt x="0" y="220599"/>
                    </a:moveTo>
                    <a:cubicBezTo>
                      <a:pt x="0" y="98806"/>
                      <a:pt x="104132" y="0"/>
                      <a:pt x="232491" y="0"/>
                    </a:cubicBezTo>
                    <a:lnTo>
                      <a:pt x="11255532" y="0"/>
                    </a:lnTo>
                    <a:cubicBezTo>
                      <a:pt x="11383891" y="0"/>
                      <a:pt x="11488023" y="98806"/>
                      <a:pt x="11488023" y="220599"/>
                    </a:cubicBezTo>
                    <a:lnTo>
                      <a:pt x="11488023" y="3364611"/>
                    </a:lnTo>
                    <a:cubicBezTo>
                      <a:pt x="11488023" y="3486404"/>
                      <a:pt x="11383891" y="3585210"/>
                      <a:pt x="11255532" y="3585210"/>
                    </a:cubicBezTo>
                    <a:lnTo>
                      <a:pt x="232491" y="3585210"/>
                    </a:lnTo>
                    <a:cubicBezTo>
                      <a:pt x="104132" y="3585210"/>
                      <a:pt x="0" y="3486404"/>
                      <a:pt x="0" y="3364611"/>
                    </a:cubicBezTo>
                    <a:close/>
                  </a:path>
                </a:pathLst>
              </a:custGeom>
              <a:solidFill>
                <a:srgbClr val="151C4F"/>
              </a:solidFill>
              <a:ln w="14288" cap="sq">
                <a:solidFill>
                  <a:srgbClr val="2C3680"/>
                </a:solidFill>
                <a:prstDash val="solid"/>
                <a:miter/>
              </a:ln>
            </p:spPr>
          </p:sp>
        </p:grpSp>
        <p:sp>
          <p:nvSpPr>
            <p:cNvPr name="TextBox 18" id="18"/>
            <p:cNvSpPr txBox="true"/>
            <p:nvPr/>
          </p:nvSpPr>
          <p:spPr>
            <a:xfrm rot="0">
              <a:off x="11111662" y="6570930"/>
              <a:ext cx="9046071" cy="3434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b="true" sz="1593" spc="398">
                  <a:solidFill>
                    <a:srgbClr val="FBBF2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HONEST: FUNCTIONAL VS. SIMULATED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1068991" y="7261678"/>
              <a:ext cx="8784061" cy="12594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63727" indent="-181863" lvl="1">
                <a:lnSpc>
                  <a:spcPts val="2411"/>
                </a:lnSpc>
                <a:buFont typeface="Arial"/>
                <a:buChar char="•"/>
              </a:pPr>
              <a:r>
                <a:rPr lang="en-US" sz="200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Functional: upload, 6 models, SHAP, what-if, tasks</a:t>
              </a:r>
            </a:p>
            <a:p>
              <a:pPr algn="l" marL="363727" indent="-181863" lvl="1">
                <a:lnSpc>
                  <a:spcPts val="2411"/>
                </a:lnSpc>
                <a:buFont typeface="Arial"/>
                <a:buChar char="•"/>
              </a:pPr>
              <a:r>
                <a:rPr lang="en-US" sz="200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Simulated: AI4I-style sensor data and repairs</a:t>
              </a:r>
            </a:p>
            <a:p>
              <a:pPr algn="l" marL="363727" indent="-181863" lvl="1">
                <a:lnSpc>
                  <a:spcPts val="2411"/>
                </a:lnSpc>
                <a:buFont typeface="Arial"/>
                <a:buChar char="•"/>
              </a:pPr>
              <a:r>
                <a:rPr lang="en-US" sz="200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Never connects to or controls a real machine</a:t>
              </a:r>
            </a:p>
          </p:txBody>
        </p:sp>
        <p:grpSp>
          <p:nvGrpSpPr>
            <p:cNvPr name="Group 20" id="20"/>
            <p:cNvGrpSpPr/>
            <p:nvPr/>
          </p:nvGrpSpPr>
          <p:grpSpPr>
            <a:xfrm rot="0">
              <a:off x="14790288" y="0"/>
              <a:ext cx="5931046" cy="2616528"/>
              <a:chOff x="0" y="0"/>
              <a:chExt cx="6054090" cy="267081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6054090" cy="2670810"/>
              </a:xfrm>
              <a:custGeom>
                <a:avLst/>
                <a:gdLst/>
                <a:ahLst/>
                <a:cxnLst/>
                <a:rect r="r" b="b" t="t" l="l"/>
                <a:pathLst>
                  <a:path h="2670810" w="6054090">
                    <a:moveTo>
                      <a:pt x="0" y="220980"/>
                    </a:moveTo>
                    <a:cubicBezTo>
                      <a:pt x="0" y="98933"/>
                      <a:pt x="98933" y="0"/>
                      <a:pt x="220980" y="0"/>
                    </a:cubicBezTo>
                    <a:lnTo>
                      <a:pt x="5833110" y="0"/>
                    </a:lnTo>
                    <a:cubicBezTo>
                      <a:pt x="5955157" y="0"/>
                      <a:pt x="6054090" y="98933"/>
                      <a:pt x="6054090" y="220980"/>
                    </a:cubicBezTo>
                    <a:lnTo>
                      <a:pt x="6054090" y="2449830"/>
                    </a:lnTo>
                    <a:cubicBezTo>
                      <a:pt x="6054090" y="2571877"/>
                      <a:pt x="5955157" y="2670810"/>
                      <a:pt x="5833110" y="2670810"/>
                    </a:cubicBezTo>
                    <a:lnTo>
                      <a:pt x="220980" y="2670810"/>
                    </a:lnTo>
                    <a:cubicBezTo>
                      <a:pt x="98933" y="2670810"/>
                      <a:pt x="0" y="2571877"/>
                      <a:pt x="0" y="2449830"/>
                    </a:cubicBezTo>
                    <a:close/>
                  </a:path>
                </a:pathLst>
              </a:custGeom>
              <a:solidFill>
                <a:srgbClr val="151C4F"/>
              </a:solidFill>
              <a:ln w="14288" cap="sq">
                <a:solidFill>
                  <a:srgbClr val="2C3680"/>
                </a:solidFill>
                <a:prstDash val="solid"/>
                <a:miter/>
              </a:ln>
            </p:spPr>
          </p:sp>
        </p:grpSp>
        <p:grpSp>
          <p:nvGrpSpPr>
            <p:cNvPr name="Group 22" id="22"/>
            <p:cNvGrpSpPr/>
            <p:nvPr/>
          </p:nvGrpSpPr>
          <p:grpSpPr>
            <a:xfrm rot="0">
              <a:off x="15157946" y="367658"/>
              <a:ext cx="895816" cy="895816"/>
              <a:chOff x="0" y="0"/>
              <a:chExt cx="914400" cy="914400"/>
            </a:xfrm>
          </p:grpSpPr>
          <p:sp>
            <p:nvSpPr>
              <p:cNvPr name="Freeform 23" id="23" descr="FaPython"/>
              <p:cNvSpPr/>
              <p:nvPr/>
            </p:nvSpPr>
            <p:spPr>
              <a:xfrm flipH="false" flipV="false" rot="0">
                <a:off x="0" y="0"/>
                <a:ext cx="914400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l="0" t="0" r="0" b="0"/>
                </a:stretch>
              </a:blipFill>
            </p:spPr>
          </p:sp>
        </p:grpSp>
        <p:grpSp>
          <p:nvGrpSpPr>
            <p:cNvPr name="Group 24" id="24"/>
            <p:cNvGrpSpPr/>
            <p:nvPr/>
          </p:nvGrpSpPr>
          <p:grpSpPr>
            <a:xfrm rot="0">
              <a:off x="16322506" y="367658"/>
              <a:ext cx="4210333" cy="895816"/>
              <a:chOff x="0" y="0"/>
              <a:chExt cx="4297680" cy="9144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4297680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4297680">
                    <a:moveTo>
                      <a:pt x="0" y="0"/>
                    </a:moveTo>
                    <a:lnTo>
                      <a:pt x="4297680" y="0"/>
                    </a:lnTo>
                    <a:lnTo>
                      <a:pt x="429768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41579" r="0" b="-41579"/>
                </a:stretch>
              </a:blip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57150"/>
                <a:ext cx="4297680" cy="97155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39"/>
                  </a:lnSpc>
                </a:pPr>
                <a:r>
                  <a:rPr lang="en-US" sz="2699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FastAPI ML service</a:t>
                </a: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6177395" y="995070"/>
              <a:ext cx="1119769" cy="895133"/>
              <a:chOff x="0" y="0"/>
              <a:chExt cx="812800" cy="649744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649744"/>
              </a:xfrm>
              <a:custGeom>
                <a:avLst/>
                <a:gdLst/>
                <a:ahLst/>
                <a:cxnLst/>
                <a:rect r="r" b="b" t="t" l="l"/>
                <a:pathLst>
                  <a:path h="649744" w="812800">
                    <a:moveTo>
                      <a:pt x="812800" y="324872"/>
                    </a:moveTo>
                    <a:lnTo>
                      <a:pt x="406400" y="0"/>
                    </a:lnTo>
                    <a:lnTo>
                      <a:pt x="406400" y="203200"/>
                    </a:lnTo>
                    <a:lnTo>
                      <a:pt x="0" y="203200"/>
                    </a:lnTo>
                    <a:lnTo>
                      <a:pt x="0" y="446544"/>
                    </a:lnTo>
                    <a:lnTo>
                      <a:pt x="406400" y="446544"/>
                    </a:lnTo>
                    <a:lnTo>
                      <a:pt x="406400" y="649744"/>
                    </a:lnTo>
                    <a:lnTo>
                      <a:pt x="812800" y="324872"/>
                    </a:lnTo>
                    <a:close/>
                  </a:path>
                </a:pathLst>
              </a:custGeom>
              <a:solidFill>
                <a:srgbClr val="22D3EE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165100"/>
                <a:ext cx="711200" cy="2814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0" y="10513"/>
              <a:ext cx="5931046" cy="2616528"/>
              <a:chOff x="0" y="0"/>
              <a:chExt cx="6054090" cy="267081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6054090" cy="2670810"/>
              </a:xfrm>
              <a:custGeom>
                <a:avLst/>
                <a:gdLst/>
                <a:ahLst/>
                <a:cxnLst/>
                <a:rect r="r" b="b" t="t" l="l"/>
                <a:pathLst>
                  <a:path h="2670810" w="6054090">
                    <a:moveTo>
                      <a:pt x="0" y="220980"/>
                    </a:moveTo>
                    <a:cubicBezTo>
                      <a:pt x="0" y="98933"/>
                      <a:pt x="98933" y="0"/>
                      <a:pt x="220980" y="0"/>
                    </a:cubicBezTo>
                    <a:lnTo>
                      <a:pt x="5833110" y="0"/>
                    </a:lnTo>
                    <a:cubicBezTo>
                      <a:pt x="5955157" y="0"/>
                      <a:pt x="6054090" y="98933"/>
                      <a:pt x="6054090" y="220980"/>
                    </a:cubicBezTo>
                    <a:lnTo>
                      <a:pt x="6054090" y="2449830"/>
                    </a:lnTo>
                    <a:cubicBezTo>
                      <a:pt x="6054090" y="2571877"/>
                      <a:pt x="5955157" y="2670810"/>
                      <a:pt x="5833110" y="2670810"/>
                    </a:cubicBezTo>
                    <a:lnTo>
                      <a:pt x="220980" y="2670810"/>
                    </a:lnTo>
                    <a:cubicBezTo>
                      <a:pt x="98933" y="2670810"/>
                      <a:pt x="0" y="2571877"/>
                      <a:pt x="0" y="2449830"/>
                    </a:cubicBezTo>
                    <a:close/>
                  </a:path>
                </a:pathLst>
              </a:custGeom>
              <a:solidFill>
                <a:srgbClr val="151C4F"/>
              </a:solidFill>
              <a:ln w="14288" cap="sq">
                <a:solidFill>
                  <a:srgbClr val="2C3680"/>
                </a:solidFill>
                <a:prstDash val="solid"/>
                <a:miter/>
              </a:ln>
            </p:spPr>
          </p:sp>
        </p:grpSp>
        <p:grpSp>
          <p:nvGrpSpPr>
            <p:cNvPr name="Group 32" id="32"/>
            <p:cNvGrpSpPr/>
            <p:nvPr/>
          </p:nvGrpSpPr>
          <p:grpSpPr>
            <a:xfrm rot="0">
              <a:off x="367658" y="378171"/>
              <a:ext cx="895816" cy="895816"/>
              <a:chOff x="0" y="0"/>
              <a:chExt cx="914400" cy="914400"/>
            </a:xfrm>
          </p:grpSpPr>
          <p:sp>
            <p:nvSpPr>
              <p:cNvPr name="Freeform 33" id="33" descr="FaReact"/>
              <p:cNvSpPr/>
              <p:nvPr/>
            </p:nvSpPr>
            <p:spPr>
              <a:xfrm flipH="false" flipV="false" rot="0">
                <a:off x="0" y="0"/>
                <a:ext cx="914400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l="0" t="0" r="0" b="0"/>
                </a:stretch>
              </a:blipFill>
            </p:spPr>
          </p:sp>
        </p:grpSp>
        <p:grpSp>
          <p:nvGrpSpPr>
            <p:cNvPr name="Group 34" id="34"/>
            <p:cNvGrpSpPr/>
            <p:nvPr/>
          </p:nvGrpSpPr>
          <p:grpSpPr>
            <a:xfrm rot="0">
              <a:off x="1532218" y="378171"/>
              <a:ext cx="4210333" cy="895816"/>
              <a:chOff x="0" y="0"/>
              <a:chExt cx="4297680" cy="9144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4297680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4297680">
                    <a:moveTo>
                      <a:pt x="0" y="0"/>
                    </a:moveTo>
                    <a:lnTo>
                      <a:pt x="4297680" y="0"/>
                    </a:lnTo>
                    <a:lnTo>
                      <a:pt x="429768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41579" r="0" b="-41579"/>
                </a:stretch>
              </a:blip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57150"/>
                <a:ext cx="4297680" cy="97155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39"/>
                  </a:lnSpc>
                </a:pPr>
                <a:r>
                  <a:rPr lang="en-US" sz="2699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React 19 + Vite</a:t>
                </a: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367658" y="1415050"/>
              <a:ext cx="5285312" cy="11130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16"/>
                </a:lnSpc>
              </a:pPr>
              <a:r>
                <a:rPr lang="en-US" sz="1763">
                  <a:solidFill>
                    <a:srgbClr val="C9D3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 pages · Recharts · animated machine avatar</a:t>
              </a:r>
            </a:p>
          </p:txBody>
        </p:sp>
        <p:grpSp>
          <p:nvGrpSpPr>
            <p:cNvPr name="Group 38" id="38"/>
            <p:cNvGrpSpPr/>
            <p:nvPr/>
          </p:nvGrpSpPr>
          <p:grpSpPr>
            <a:xfrm rot="0">
              <a:off x="7308389" y="16983"/>
              <a:ext cx="5931046" cy="2616528"/>
              <a:chOff x="0" y="0"/>
              <a:chExt cx="6054090" cy="267081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6054090" cy="2670810"/>
              </a:xfrm>
              <a:custGeom>
                <a:avLst/>
                <a:gdLst/>
                <a:ahLst/>
                <a:cxnLst/>
                <a:rect r="r" b="b" t="t" l="l"/>
                <a:pathLst>
                  <a:path h="2670810" w="6054090">
                    <a:moveTo>
                      <a:pt x="0" y="220980"/>
                    </a:moveTo>
                    <a:cubicBezTo>
                      <a:pt x="0" y="98933"/>
                      <a:pt x="98933" y="0"/>
                      <a:pt x="220980" y="0"/>
                    </a:cubicBezTo>
                    <a:lnTo>
                      <a:pt x="5833110" y="0"/>
                    </a:lnTo>
                    <a:cubicBezTo>
                      <a:pt x="5955157" y="0"/>
                      <a:pt x="6054090" y="98933"/>
                      <a:pt x="6054090" y="220980"/>
                    </a:cubicBezTo>
                    <a:lnTo>
                      <a:pt x="6054090" y="2449830"/>
                    </a:lnTo>
                    <a:cubicBezTo>
                      <a:pt x="6054090" y="2571877"/>
                      <a:pt x="5955157" y="2670810"/>
                      <a:pt x="5833110" y="2670810"/>
                    </a:cubicBezTo>
                    <a:lnTo>
                      <a:pt x="220980" y="2670810"/>
                    </a:lnTo>
                    <a:cubicBezTo>
                      <a:pt x="98933" y="2670810"/>
                      <a:pt x="0" y="2571877"/>
                      <a:pt x="0" y="2449830"/>
                    </a:cubicBezTo>
                    <a:close/>
                  </a:path>
                </a:pathLst>
              </a:custGeom>
              <a:solidFill>
                <a:srgbClr val="151C4F"/>
              </a:solidFill>
              <a:ln w="14288" cap="sq">
                <a:solidFill>
                  <a:srgbClr val="2C3680"/>
                </a:solidFill>
                <a:prstDash val="solid"/>
                <a:miter/>
              </a:ln>
            </p:spPr>
          </p:sp>
        </p:grpSp>
        <p:grpSp>
          <p:nvGrpSpPr>
            <p:cNvPr name="Group 40" id="40"/>
            <p:cNvGrpSpPr/>
            <p:nvPr/>
          </p:nvGrpSpPr>
          <p:grpSpPr>
            <a:xfrm rot="0">
              <a:off x="7998887" y="277569"/>
              <a:ext cx="895816" cy="895816"/>
              <a:chOff x="0" y="0"/>
              <a:chExt cx="914400" cy="914400"/>
            </a:xfrm>
          </p:grpSpPr>
          <p:sp>
            <p:nvSpPr>
              <p:cNvPr name="Freeform 41" id="41" descr="FaNodeJs"/>
              <p:cNvSpPr/>
              <p:nvPr/>
            </p:nvSpPr>
            <p:spPr>
              <a:xfrm flipH="false" flipV="false" rot="0">
                <a:off x="0" y="0"/>
                <a:ext cx="914400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0" t="0" r="0" b="0"/>
                </a:stretch>
              </a:blipFill>
            </p:spPr>
          </p:sp>
        </p:grpSp>
        <p:grpSp>
          <p:nvGrpSpPr>
            <p:cNvPr name="Group 42" id="42"/>
            <p:cNvGrpSpPr/>
            <p:nvPr/>
          </p:nvGrpSpPr>
          <p:grpSpPr>
            <a:xfrm rot="0">
              <a:off x="9163447" y="277569"/>
              <a:ext cx="4210333" cy="895816"/>
              <a:chOff x="0" y="0"/>
              <a:chExt cx="4297680" cy="9144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4297680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4297680">
                    <a:moveTo>
                      <a:pt x="0" y="0"/>
                    </a:moveTo>
                    <a:lnTo>
                      <a:pt x="4297680" y="0"/>
                    </a:lnTo>
                    <a:lnTo>
                      <a:pt x="429768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41579" r="0" b="-41579"/>
                </a:stretch>
              </a:blip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57150"/>
                <a:ext cx="4297680" cy="97155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39"/>
                  </a:lnSpc>
                </a:pPr>
                <a:r>
                  <a:rPr lang="en-US" sz="2699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Node.js + Express</a:t>
                </a:r>
              </a:p>
            </p:txBody>
          </p:sp>
        </p:grpSp>
        <p:sp>
          <p:nvSpPr>
            <p:cNvPr name="TextBox 45" id="45"/>
            <p:cNvSpPr txBox="true"/>
            <p:nvPr/>
          </p:nvSpPr>
          <p:spPr>
            <a:xfrm rot="0">
              <a:off x="7631229" y="1314448"/>
              <a:ext cx="5285312" cy="11130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16"/>
                </a:lnSpc>
              </a:pPr>
              <a:r>
                <a:rPr lang="en-US" sz="1763">
                  <a:solidFill>
                    <a:srgbClr val="C9D3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JWT auth · role checks · 33 REST endpoints</a:t>
              </a:r>
            </a:p>
          </p:txBody>
        </p:sp>
        <p:grpSp>
          <p:nvGrpSpPr>
            <p:cNvPr name="Group 46" id="46"/>
            <p:cNvGrpSpPr/>
            <p:nvPr/>
          </p:nvGrpSpPr>
          <p:grpSpPr>
            <a:xfrm rot="0">
              <a:off x="13523083" y="1084993"/>
              <a:ext cx="1119769" cy="895133"/>
              <a:chOff x="0" y="0"/>
              <a:chExt cx="812800" cy="649744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812800" cy="649744"/>
              </a:xfrm>
              <a:custGeom>
                <a:avLst/>
                <a:gdLst/>
                <a:ahLst/>
                <a:cxnLst/>
                <a:rect r="r" b="b" t="t" l="l"/>
                <a:pathLst>
                  <a:path h="649744" w="812800">
                    <a:moveTo>
                      <a:pt x="812800" y="324872"/>
                    </a:moveTo>
                    <a:lnTo>
                      <a:pt x="406400" y="0"/>
                    </a:lnTo>
                    <a:lnTo>
                      <a:pt x="406400" y="203200"/>
                    </a:lnTo>
                    <a:lnTo>
                      <a:pt x="0" y="203200"/>
                    </a:lnTo>
                    <a:lnTo>
                      <a:pt x="0" y="446544"/>
                    </a:lnTo>
                    <a:lnTo>
                      <a:pt x="406400" y="446544"/>
                    </a:lnTo>
                    <a:lnTo>
                      <a:pt x="406400" y="649744"/>
                    </a:lnTo>
                    <a:lnTo>
                      <a:pt x="812800" y="324872"/>
                    </a:lnTo>
                    <a:close/>
                  </a:path>
                </a:pathLst>
              </a:custGeom>
              <a:solidFill>
                <a:srgbClr val="22D3EE"/>
              </a:solid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165100"/>
                <a:ext cx="711200" cy="2814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0">
              <a:off x="2707478" y="2735130"/>
              <a:ext cx="516089" cy="516089"/>
              <a:chOff x="0" y="0"/>
              <a:chExt cx="812800" cy="81280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812800"/>
                    </a:moveTo>
                    <a:lnTo>
                      <a:pt x="0" y="406400"/>
                    </a:lnTo>
                    <a:lnTo>
                      <a:pt x="203200" y="40640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609600" y="406400"/>
                    </a:lnTo>
                    <a:lnTo>
                      <a:pt x="812800" y="406400"/>
                    </a:lnTo>
                    <a:lnTo>
                      <a:pt x="406400" y="812800"/>
                    </a:lnTo>
                    <a:close/>
                  </a:path>
                </a:pathLst>
              </a:custGeom>
              <a:solidFill>
                <a:srgbClr val="22D3EE"/>
              </a:soli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203200" y="-38100"/>
                <a:ext cx="406400" cy="749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TextBox 52" id="52"/>
            <p:cNvSpPr txBox="true"/>
            <p:nvPr/>
          </p:nvSpPr>
          <p:spPr>
            <a:xfrm rot="0">
              <a:off x="15157946" y="1404536"/>
              <a:ext cx="5285312" cy="11130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16"/>
                </a:lnSpc>
              </a:pPr>
              <a:r>
                <a:rPr lang="en-US" sz="1763">
                  <a:solidFill>
                    <a:srgbClr val="C9D3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XGBoost · SHAP · rule-based recommender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5695921" y="607827"/>
              <a:ext cx="1612468" cy="4764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39"/>
                </a:lnSpc>
              </a:pPr>
              <a:r>
                <a:rPr lang="en-US" sz="1616">
                  <a:solidFill>
                    <a:srgbClr val="22D3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JWT</a:t>
              </a:r>
            </a:p>
          </p:txBody>
        </p:sp>
        <p:sp>
          <p:nvSpPr>
            <p:cNvPr name="TextBox 54" id="54"/>
            <p:cNvSpPr txBox="true"/>
            <p:nvPr/>
          </p:nvSpPr>
          <p:spPr>
            <a:xfrm rot="0">
              <a:off x="13177820" y="596068"/>
              <a:ext cx="1612468" cy="4764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39"/>
                </a:lnSpc>
              </a:pPr>
              <a:r>
                <a:rPr lang="en-US" sz="1616">
                  <a:solidFill>
                    <a:srgbClr val="22D3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internal</a:t>
              </a:r>
            </a:p>
          </p:txBody>
        </p:sp>
        <p:grpSp>
          <p:nvGrpSpPr>
            <p:cNvPr name="Group 55" id="55"/>
            <p:cNvGrpSpPr/>
            <p:nvPr/>
          </p:nvGrpSpPr>
          <p:grpSpPr>
            <a:xfrm rot="0">
              <a:off x="95802" y="3359308"/>
              <a:ext cx="5931046" cy="1899876"/>
              <a:chOff x="0" y="0"/>
              <a:chExt cx="6054090" cy="1939290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6054090" cy="1939290"/>
              </a:xfrm>
              <a:custGeom>
                <a:avLst/>
                <a:gdLst/>
                <a:ahLst/>
                <a:cxnLst/>
                <a:rect r="r" b="b" t="t" l="l"/>
                <a:pathLst>
                  <a:path h="1939290" w="6054090">
                    <a:moveTo>
                      <a:pt x="0" y="221615"/>
                    </a:moveTo>
                    <a:cubicBezTo>
                      <a:pt x="0" y="99187"/>
                      <a:pt x="99187" y="0"/>
                      <a:pt x="221615" y="0"/>
                    </a:cubicBezTo>
                    <a:lnTo>
                      <a:pt x="5832475" y="0"/>
                    </a:lnTo>
                    <a:cubicBezTo>
                      <a:pt x="5954903" y="0"/>
                      <a:pt x="6054090" y="99187"/>
                      <a:pt x="6054090" y="221615"/>
                    </a:cubicBezTo>
                    <a:lnTo>
                      <a:pt x="6054090" y="1717675"/>
                    </a:lnTo>
                    <a:cubicBezTo>
                      <a:pt x="6054090" y="1840103"/>
                      <a:pt x="5954903" y="1939290"/>
                      <a:pt x="5832475" y="1939290"/>
                    </a:cubicBezTo>
                    <a:lnTo>
                      <a:pt x="221615" y="1939290"/>
                    </a:lnTo>
                    <a:cubicBezTo>
                      <a:pt x="99187" y="1939290"/>
                      <a:pt x="0" y="1840103"/>
                      <a:pt x="0" y="1717675"/>
                    </a:cubicBezTo>
                    <a:close/>
                  </a:path>
                </a:pathLst>
              </a:custGeom>
              <a:solidFill>
                <a:srgbClr val="151C4F"/>
              </a:solidFill>
              <a:ln w="14288" cap="sq">
                <a:solidFill>
                  <a:srgbClr val="2C3680"/>
                </a:solidFill>
                <a:prstDash val="solid"/>
                <a:miter/>
              </a:ln>
            </p:spPr>
          </p:sp>
        </p:grpSp>
        <p:grpSp>
          <p:nvGrpSpPr>
            <p:cNvPr name="Group 57" id="57"/>
            <p:cNvGrpSpPr/>
            <p:nvPr/>
          </p:nvGrpSpPr>
          <p:grpSpPr>
            <a:xfrm rot="0">
              <a:off x="463460" y="3726966"/>
              <a:ext cx="806234" cy="806234"/>
              <a:chOff x="0" y="0"/>
              <a:chExt cx="822960" cy="822960"/>
            </a:xfrm>
          </p:grpSpPr>
          <p:sp>
            <p:nvSpPr>
              <p:cNvPr name="Freeform 58" id="58" descr="FaUserTie"/>
              <p:cNvSpPr/>
              <p:nvPr/>
            </p:nvSpPr>
            <p:spPr>
              <a:xfrm flipH="false" flipV="false" rot="0">
                <a:off x="0" y="0"/>
                <a:ext cx="822960" cy="822960"/>
              </a:xfrm>
              <a:custGeom>
                <a:avLst/>
                <a:gdLst/>
                <a:ahLst/>
                <a:cxnLst/>
                <a:rect r="r" b="b" t="t" l="l"/>
                <a:pathLst>
                  <a:path h="822960" w="822960">
                    <a:moveTo>
                      <a:pt x="0" y="0"/>
                    </a:moveTo>
                    <a:lnTo>
                      <a:pt x="822960" y="0"/>
                    </a:lnTo>
                    <a:lnTo>
                      <a:pt x="822960" y="822960"/>
                    </a:lnTo>
                    <a:lnTo>
                      <a:pt x="0" y="82296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0" t="0" r="0" b="0"/>
                </a:stretch>
              </a:blipFill>
            </p:spPr>
          </p:sp>
        </p:grpSp>
        <p:sp>
          <p:nvSpPr>
            <p:cNvPr name="TextBox 59" id="59"/>
            <p:cNvSpPr txBox="true"/>
            <p:nvPr/>
          </p:nvSpPr>
          <p:spPr>
            <a:xfrm rot="0">
              <a:off x="1538439" y="3526486"/>
              <a:ext cx="4299915" cy="6842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21"/>
                </a:lnSpc>
              </a:pPr>
              <a:r>
                <a:rPr lang="en-US" sz="2351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 user roles</a:t>
              </a:r>
            </a:p>
          </p:txBody>
        </p:sp>
        <p:sp>
          <p:nvSpPr>
            <p:cNvPr name="TextBox 60" id="60"/>
            <p:cNvSpPr txBox="true"/>
            <p:nvPr/>
          </p:nvSpPr>
          <p:spPr>
            <a:xfrm rot="0">
              <a:off x="1538439" y="4190523"/>
              <a:ext cx="4299915" cy="9339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16"/>
                </a:lnSpc>
              </a:pPr>
              <a:r>
                <a:rPr lang="en-US" sz="1763">
                  <a:solidFill>
                    <a:srgbClr val="C9D3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Engineer · Technician · Manager</a:t>
              </a:r>
            </a:p>
          </p:txBody>
        </p:sp>
        <p:grpSp>
          <p:nvGrpSpPr>
            <p:cNvPr name="Group 61" id="61"/>
            <p:cNvGrpSpPr/>
            <p:nvPr/>
          </p:nvGrpSpPr>
          <p:grpSpPr>
            <a:xfrm rot="0">
              <a:off x="7444601" y="3359308"/>
              <a:ext cx="5931046" cy="1899876"/>
              <a:chOff x="0" y="0"/>
              <a:chExt cx="6054090" cy="1939290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6054090" cy="1939290"/>
              </a:xfrm>
              <a:custGeom>
                <a:avLst/>
                <a:gdLst/>
                <a:ahLst/>
                <a:cxnLst/>
                <a:rect r="r" b="b" t="t" l="l"/>
                <a:pathLst>
                  <a:path h="1939290" w="6054090">
                    <a:moveTo>
                      <a:pt x="0" y="221615"/>
                    </a:moveTo>
                    <a:cubicBezTo>
                      <a:pt x="0" y="99187"/>
                      <a:pt x="99187" y="0"/>
                      <a:pt x="221615" y="0"/>
                    </a:cubicBezTo>
                    <a:lnTo>
                      <a:pt x="5832475" y="0"/>
                    </a:lnTo>
                    <a:cubicBezTo>
                      <a:pt x="5954903" y="0"/>
                      <a:pt x="6054090" y="99187"/>
                      <a:pt x="6054090" y="221615"/>
                    </a:cubicBezTo>
                    <a:lnTo>
                      <a:pt x="6054090" y="1717675"/>
                    </a:lnTo>
                    <a:cubicBezTo>
                      <a:pt x="6054090" y="1840103"/>
                      <a:pt x="5954903" y="1939290"/>
                      <a:pt x="5832475" y="1939290"/>
                    </a:cubicBezTo>
                    <a:lnTo>
                      <a:pt x="221615" y="1939290"/>
                    </a:lnTo>
                    <a:cubicBezTo>
                      <a:pt x="99187" y="1939290"/>
                      <a:pt x="0" y="1840103"/>
                      <a:pt x="0" y="1717675"/>
                    </a:cubicBezTo>
                    <a:close/>
                  </a:path>
                </a:pathLst>
              </a:custGeom>
              <a:solidFill>
                <a:srgbClr val="151C4F"/>
              </a:solidFill>
              <a:ln w="14288" cap="sq">
                <a:solidFill>
                  <a:srgbClr val="2C3680"/>
                </a:solidFill>
                <a:prstDash val="solid"/>
                <a:miter/>
              </a:ln>
            </p:spPr>
          </p:sp>
        </p:grpSp>
        <p:grpSp>
          <p:nvGrpSpPr>
            <p:cNvPr name="Group 63" id="63"/>
            <p:cNvGrpSpPr/>
            <p:nvPr/>
          </p:nvGrpSpPr>
          <p:grpSpPr>
            <a:xfrm rot="0">
              <a:off x="7812258" y="3726966"/>
              <a:ext cx="806234" cy="806234"/>
              <a:chOff x="0" y="0"/>
              <a:chExt cx="822960" cy="822960"/>
            </a:xfrm>
          </p:grpSpPr>
          <p:sp>
            <p:nvSpPr>
              <p:cNvPr name="Freeform 64" id="64" descr="FaDatabase"/>
              <p:cNvSpPr/>
              <p:nvPr/>
            </p:nvSpPr>
            <p:spPr>
              <a:xfrm flipH="false" flipV="false" rot="0">
                <a:off x="0" y="0"/>
                <a:ext cx="822960" cy="822960"/>
              </a:xfrm>
              <a:custGeom>
                <a:avLst/>
                <a:gdLst/>
                <a:ahLst/>
                <a:cxnLst/>
                <a:rect r="r" b="b" t="t" l="l"/>
                <a:pathLst>
                  <a:path h="822960" w="822960">
                    <a:moveTo>
                      <a:pt x="0" y="0"/>
                    </a:moveTo>
                    <a:lnTo>
                      <a:pt x="822960" y="0"/>
                    </a:lnTo>
                    <a:lnTo>
                      <a:pt x="822960" y="822960"/>
                    </a:lnTo>
                    <a:lnTo>
                      <a:pt x="0" y="82296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l="0" t="0" r="0" b="0"/>
                </a:stretch>
              </a:blipFill>
            </p:spPr>
          </p:sp>
        </p:grpSp>
        <p:sp>
          <p:nvSpPr>
            <p:cNvPr name="TextBox 65" id="65"/>
            <p:cNvSpPr txBox="true"/>
            <p:nvPr/>
          </p:nvSpPr>
          <p:spPr>
            <a:xfrm rot="0">
              <a:off x="8887237" y="3526486"/>
              <a:ext cx="4299915" cy="6842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21"/>
                </a:lnSpc>
              </a:pPr>
              <a:r>
                <a:rPr lang="en-US" sz="2351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MySQL 8 · 9 tables</a:t>
              </a:r>
            </a:p>
          </p:txBody>
        </p:sp>
        <p:sp>
          <p:nvSpPr>
            <p:cNvPr name="TextBox 66" id="66"/>
            <p:cNvSpPr txBox="true"/>
            <p:nvPr/>
          </p:nvSpPr>
          <p:spPr>
            <a:xfrm rot="0">
              <a:off x="8887237" y="4190523"/>
              <a:ext cx="4299915" cy="9339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16"/>
                </a:lnSpc>
              </a:pPr>
              <a:r>
                <a:rPr lang="en-US" sz="1763">
                  <a:solidFill>
                    <a:srgbClr val="C9D3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readings, predictions, SHAP, tasks</a:t>
              </a:r>
            </a:p>
          </p:txBody>
        </p:sp>
        <p:grpSp>
          <p:nvGrpSpPr>
            <p:cNvPr name="Group 67" id="67"/>
            <p:cNvGrpSpPr/>
            <p:nvPr/>
          </p:nvGrpSpPr>
          <p:grpSpPr>
            <a:xfrm rot="0">
              <a:off x="14790288" y="3359308"/>
              <a:ext cx="5931046" cy="1899876"/>
              <a:chOff x="0" y="0"/>
              <a:chExt cx="6054090" cy="1939290"/>
            </a:xfrm>
          </p:grpSpPr>
          <p:sp>
            <p:nvSpPr>
              <p:cNvPr name="Freeform 68" id="68"/>
              <p:cNvSpPr/>
              <p:nvPr/>
            </p:nvSpPr>
            <p:spPr>
              <a:xfrm flipH="false" flipV="false" rot="0">
                <a:off x="0" y="0"/>
                <a:ext cx="6054090" cy="1939290"/>
              </a:xfrm>
              <a:custGeom>
                <a:avLst/>
                <a:gdLst/>
                <a:ahLst/>
                <a:cxnLst/>
                <a:rect r="r" b="b" t="t" l="l"/>
                <a:pathLst>
                  <a:path h="1939290" w="6054090">
                    <a:moveTo>
                      <a:pt x="0" y="221615"/>
                    </a:moveTo>
                    <a:cubicBezTo>
                      <a:pt x="0" y="99187"/>
                      <a:pt x="99187" y="0"/>
                      <a:pt x="221615" y="0"/>
                    </a:cubicBezTo>
                    <a:lnTo>
                      <a:pt x="5832475" y="0"/>
                    </a:lnTo>
                    <a:cubicBezTo>
                      <a:pt x="5954903" y="0"/>
                      <a:pt x="6054090" y="99187"/>
                      <a:pt x="6054090" y="221615"/>
                    </a:cubicBezTo>
                    <a:lnTo>
                      <a:pt x="6054090" y="1717675"/>
                    </a:lnTo>
                    <a:cubicBezTo>
                      <a:pt x="6054090" y="1840103"/>
                      <a:pt x="5954903" y="1939290"/>
                      <a:pt x="5832475" y="1939290"/>
                    </a:cubicBezTo>
                    <a:lnTo>
                      <a:pt x="221615" y="1939290"/>
                    </a:lnTo>
                    <a:cubicBezTo>
                      <a:pt x="99187" y="1939290"/>
                      <a:pt x="0" y="1840103"/>
                      <a:pt x="0" y="1717675"/>
                    </a:cubicBezTo>
                    <a:close/>
                  </a:path>
                </a:pathLst>
              </a:custGeom>
              <a:solidFill>
                <a:srgbClr val="151C4F"/>
              </a:solidFill>
              <a:ln w="14288" cap="sq">
                <a:solidFill>
                  <a:srgbClr val="2C3680"/>
                </a:solidFill>
                <a:prstDash val="solid"/>
                <a:miter/>
              </a:ln>
            </p:spPr>
          </p:sp>
        </p:grpSp>
        <p:grpSp>
          <p:nvGrpSpPr>
            <p:cNvPr name="Group 69" id="69"/>
            <p:cNvGrpSpPr/>
            <p:nvPr/>
          </p:nvGrpSpPr>
          <p:grpSpPr>
            <a:xfrm rot="0">
              <a:off x="15157946" y="3726966"/>
              <a:ext cx="806234" cy="806234"/>
              <a:chOff x="0" y="0"/>
              <a:chExt cx="822960" cy="822960"/>
            </a:xfrm>
          </p:grpSpPr>
          <p:sp>
            <p:nvSpPr>
              <p:cNvPr name="Freeform 70" id="70" descr="FaBrain"/>
              <p:cNvSpPr/>
              <p:nvPr/>
            </p:nvSpPr>
            <p:spPr>
              <a:xfrm flipH="false" flipV="false" rot="0">
                <a:off x="0" y="0"/>
                <a:ext cx="822960" cy="822960"/>
              </a:xfrm>
              <a:custGeom>
                <a:avLst/>
                <a:gdLst/>
                <a:ahLst/>
                <a:cxnLst/>
                <a:rect r="r" b="b" t="t" l="l"/>
                <a:pathLst>
                  <a:path h="822960" w="822960">
                    <a:moveTo>
                      <a:pt x="0" y="0"/>
                    </a:moveTo>
                    <a:lnTo>
                      <a:pt x="822960" y="0"/>
                    </a:lnTo>
                    <a:lnTo>
                      <a:pt x="822960" y="822960"/>
                    </a:lnTo>
                    <a:lnTo>
                      <a:pt x="0" y="82296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1"/>
                <a:stretch>
                  <a:fillRect l="0" t="0" r="0" b="0"/>
                </a:stretch>
              </a:blipFill>
            </p:spPr>
          </p:sp>
        </p:grpSp>
        <p:sp>
          <p:nvSpPr>
            <p:cNvPr name="TextBox 71" id="71"/>
            <p:cNvSpPr txBox="true"/>
            <p:nvPr/>
          </p:nvSpPr>
          <p:spPr>
            <a:xfrm rot="0">
              <a:off x="16232925" y="3526486"/>
              <a:ext cx="4299915" cy="6842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21"/>
                </a:lnSpc>
              </a:pPr>
              <a:r>
                <a:rPr lang="en-US" sz="2351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 trained models</a:t>
              </a:r>
            </a:p>
          </p:txBody>
        </p:sp>
        <p:sp>
          <p:nvSpPr>
            <p:cNvPr name="TextBox 72" id="72"/>
            <p:cNvSpPr txBox="true"/>
            <p:nvPr/>
          </p:nvSpPr>
          <p:spPr>
            <a:xfrm rot="0">
              <a:off x="16232925" y="4190523"/>
              <a:ext cx="4299915" cy="9339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16"/>
                </a:lnSpc>
              </a:pPr>
              <a:r>
                <a:rPr lang="en-US" sz="1763">
                  <a:solidFill>
                    <a:srgbClr val="C9D3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overall + TWF · HDF · PWF · OSF · RNF</a:t>
              </a:r>
            </a:p>
          </p:txBody>
        </p:sp>
        <p:grpSp>
          <p:nvGrpSpPr>
            <p:cNvPr name="Group 73" id="73"/>
            <p:cNvGrpSpPr/>
            <p:nvPr/>
          </p:nvGrpSpPr>
          <p:grpSpPr>
            <a:xfrm rot="0">
              <a:off x="9894034" y="2729874"/>
              <a:ext cx="516089" cy="516089"/>
              <a:chOff x="0" y="0"/>
              <a:chExt cx="812800" cy="812800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812800"/>
                    </a:moveTo>
                    <a:lnTo>
                      <a:pt x="0" y="406400"/>
                    </a:lnTo>
                    <a:lnTo>
                      <a:pt x="203200" y="40640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609600" y="406400"/>
                    </a:lnTo>
                    <a:lnTo>
                      <a:pt x="812800" y="406400"/>
                    </a:lnTo>
                    <a:lnTo>
                      <a:pt x="406400" y="812800"/>
                    </a:lnTo>
                    <a:close/>
                  </a:path>
                </a:pathLst>
              </a:custGeom>
              <a:solidFill>
                <a:srgbClr val="22D3EE"/>
              </a:solidFill>
            </p:spPr>
          </p:sp>
          <p:sp>
            <p:nvSpPr>
              <p:cNvPr name="TextBox 75" id="75"/>
              <p:cNvSpPr txBox="true"/>
              <p:nvPr/>
            </p:nvSpPr>
            <p:spPr>
              <a:xfrm>
                <a:off x="203200" y="-38100"/>
                <a:ext cx="406400" cy="749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grpSp>
          <p:nvGrpSpPr>
            <p:cNvPr name="Group 76" id="76"/>
            <p:cNvGrpSpPr/>
            <p:nvPr/>
          </p:nvGrpSpPr>
          <p:grpSpPr>
            <a:xfrm rot="0">
              <a:off x="17497767" y="2729874"/>
              <a:ext cx="516089" cy="516089"/>
              <a:chOff x="0" y="0"/>
              <a:chExt cx="812800" cy="812800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812800"/>
                    </a:moveTo>
                    <a:lnTo>
                      <a:pt x="0" y="406400"/>
                    </a:lnTo>
                    <a:lnTo>
                      <a:pt x="203200" y="40640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609600" y="406400"/>
                    </a:lnTo>
                    <a:lnTo>
                      <a:pt x="812800" y="406400"/>
                    </a:lnTo>
                    <a:lnTo>
                      <a:pt x="406400" y="812800"/>
                    </a:lnTo>
                    <a:close/>
                  </a:path>
                </a:pathLst>
              </a:custGeom>
              <a:solidFill>
                <a:srgbClr val="22D3EE"/>
              </a:solidFill>
            </p:spPr>
          </p:sp>
          <p:sp>
            <p:nvSpPr>
              <p:cNvPr name="TextBox 78" id="78"/>
              <p:cNvSpPr txBox="true"/>
              <p:nvPr/>
            </p:nvSpPr>
            <p:spPr>
              <a:xfrm>
                <a:off x="203200" y="-38100"/>
                <a:ext cx="406400" cy="749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</p:grpSp>
      <p:sp>
        <p:nvSpPr>
          <p:cNvPr name="TextBox 79" id="7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18021" y="323046"/>
            <a:ext cx="16468725" cy="1171194"/>
            <a:chOff x="0" y="0"/>
            <a:chExt cx="21958300" cy="1561592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561592" cy="1561592"/>
              <a:chOff x="0" y="0"/>
              <a:chExt cx="1561592" cy="156159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561592" cy="1561592"/>
              </a:xfrm>
              <a:custGeom>
                <a:avLst/>
                <a:gdLst/>
                <a:ahLst/>
                <a:cxnLst/>
                <a:rect r="r" b="b" t="t" l="l"/>
                <a:pathLst>
                  <a:path h="1561592" w="1561592">
                    <a:moveTo>
                      <a:pt x="0" y="780796"/>
                    </a:moveTo>
                    <a:cubicBezTo>
                      <a:pt x="0" y="349631"/>
                      <a:pt x="349631" y="0"/>
                      <a:pt x="780796" y="0"/>
                    </a:cubicBezTo>
                    <a:cubicBezTo>
                      <a:pt x="1211961" y="0"/>
                      <a:pt x="1561592" y="349631"/>
                      <a:pt x="1561592" y="780796"/>
                    </a:cubicBezTo>
                    <a:cubicBezTo>
                      <a:pt x="1561592" y="1211961"/>
                      <a:pt x="1211961" y="1561592"/>
                      <a:pt x="780796" y="1561592"/>
                    </a:cubicBezTo>
                    <a:cubicBezTo>
                      <a:pt x="349631" y="1561592"/>
                      <a:pt x="0" y="1211961"/>
                      <a:pt x="0" y="780796"/>
                    </a:cubicBezTo>
                    <a:close/>
                  </a:path>
                </a:pathLst>
              </a:custGeom>
              <a:solidFill>
                <a:srgbClr val="22D3EE"/>
              </a:solidFill>
              <a:ln w="19050" cap="sq">
                <a:solidFill>
                  <a:srgbClr val="22D3EE"/>
                </a:solidFill>
                <a:prstDash val="solid"/>
                <a:miter/>
              </a:ln>
            </p:spPr>
          </p:sp>
        </p:grpSp>
        <p:grpSp>
          <p:nvGrpSpPr>
            <p:cNvPr name="Group 6" id="6"/>
            <p:cNvGrpSpPr/>
            <p:nvPr/>
          </p:nvGrpSpPr>
          <p:grpSpPr>
            <a:xfrm rot="0">
              <a:off x="427469" y="427469"/>
              <a:ext cx="706653" cy="706653"/>
              <a:chOff x="0" y="0"/>
              <a:chExt cx="706653" cy="706653"/>
            </a:xfrm>
          </p:grpSpPr>
          <p:sp>
            <p:nvSpPr>
              <p:cNvPr name="Freeform 7" id="7" descr="FaPlayCircle"/>
              <p:cNvSpPr/>
              <p:nvPr/>
            </p:nvSpPr>
            <p:spPr>
              <a:xfrm flipH="false" flipV="false" rot="0">
                <a:off x="0" y="0"/>
                <a:ext cx="706628" cy="706628"/>
              </a:xfrm>
              <a:custGeom>
                <a:avLst/>
                <a:gdLst/>
                <a:ahLst/>
                <a:cxnLst/>
                <a:rect r="r" b="b" t="t" l="l"/>
                <a:pathLst>
                  <a:path h="706628" w="706628">
                    <a:moveTo>
                      <a:pt x="0" y="0"/>
                    </a:moveTo>
                    <a:lnTo>
                      <a:pt x="706628" y="0"/>
                    </a:lnTo>
                    <a:lnTo>
                      <a:pt x="706628" y="706628"/>
                    </a:lnTo>
                    <a:lnTo>
                      <a:pt x="0" y="70662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0" r="-3" b="-3"/>
                </a:stretch>
              </a:blipFill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2024380" y="49276"/>
              <a:ext cx="19933920" cy="1463040"/>
              <a:chOff x="0" y="0"/>
              <a:chExt cx="19933920" cy="146304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9933920" cy="1463040"/>
              </a:xfrm>
              <a:custGeom>
                <a:avLst/>
                <a:gdLst/>
                <a:ahLst/>
                <a:cxnLst/>
                <a:rect r="r" b="b" t="t" l="l"/>
                <a:pathLst>
                  <a:path h="1463040" w="19933920">
                    <a:moveTo>
                      <a:pt x="0" y="0"/>
                    </a:moveTo>
                    <a:lnTo>
                      <a:pt x="19933920" y="0"/>
                    </a:lnTo>
                    <a:lnTo>
                      <a:pt x="19933920" y="1463040"/>
                    </a:lnTo>
                    <a:lnTo>
                      <a:pt x="0" y="1463040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215483" r="0" b="-215483"/>
                </a:stretch>
              </a:blip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9525"/>
                <a:ext cx="19933920" cy="147256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6480"/>
                  </a:lnSpc>
                </a:pPr>
                <a:r>
                  <a:rPr lang="en-US" sz="5400" b="true">
                    <a:solidFill>
                      <a:srgbClr val="FFFFFF"/>
                    </a:solidFill>
                    <a:latin typeface="Cambria Bold"/>
                    <a:ea typeface="Cambria Bold"/>
                    <a:cs typeface="Cambria Bold"/>
                    <a:sym typeface="Cambria Bold"/>
                  </a:rPr>
                  <a:t>Prototype / Demo Walkthrough</a:t>
                </a:r>
              </a:p>
            </p:txBody>
          </p:sp>
        </p:grpSp>
      </p:grpSp>
      <p:grpSp>
        <p:nvGrpSpPr>
          <p:cNvPr name="Group 11" id="11"/>
          <p:cNvGrpSpPr/>
          <p:nvPr/>
        </p:nvGrpSpPr>
        <p:grpSpPr>
          <a:xfrm rot="0">
            <a:off x="418021" y="1894427"/>
            <a:ext cx="17451959" cy="7919491"/>
            <a:chOff x="0" y="0"/>
            <a:chExt cx="23269278" cy="1055932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230"/>
              <a:ext cx="11343382" cy="5153430"/>
              <a:chOff x="0" y="0"/>
              <a:chExt cx="11343382" cy="515343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1343382" cy="5153430"/>
              </a:xfrm>
              <a:custGeom>
                <a:avLst/>
                <a:gdLst/>
                <a:ahLst/>
                <a:cxnLst/>
                <a:rect r="r" b="b" t="t" l="l"/>
                <a:pathLst>
                  <a:path h="5153430" w="11343382">
                    <a:moveTo>
                      <a:pt x="0" y="140703"/>
                    </a:moveTo>
                    <a:cubicBezTo>
                      <a:pt x="0" y="63049"/>
                      <a:pt x="211758" y="0"/>
                      <a:pt x="472573" y="0"/>
                    </a:cubicBezTo>
                    <a:lnTo>
                      <a:pt x="10870809" y="0"/>
                    </a:lnTo>
                    <a:cubicBezTo>
                      <a:pt x="11131896" y="0"/>
                      <a:pt x="11343382" y="63049"/>
                      <a:pt x="11343382" y="140703"/>
                    </a:cubicBezTo>
                    <a:lnTo>
                      <a:pt x="11343382" y="5012727"/>
                    </a:lnTo>
                    <a:cubicBezTo>
                      <a:pt x="11343382" y="5090463"/>
                      <a:pt x="11131624" y="5153430"/>
                      <a:pt x="10870809" y="5153430"/>
                    </a:cubicBezTo>
                    <a:lnTo>
                      <a:pt x="472573" y="5153430"/>
                    </a:lnTo>
                    <a:cubicBezTo>
                      <a:pt x="211758" y="5153430"/>
                      <a:pt x="0" y="5090381"/>
                      <a:pt x="0" y="5012727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 l="0" t="-7298" r="0" b="-7298"/>
                </a:stretch>
              </a:blipFill>
              <a:ln w="14288" cap="sq">
                <a:solidFill>
                  <a:srgbClr val="2C3680"/>
                </a:solidFill>
                <a:prstDash val="solid"/>
                <a:miter/>
              </a:ln>
            </p:spPr>
          </p:sp>
        </p:grpSp>
        <p:grpSp>
          <p:nvGrpSpPr>
            <p:cNvPr name="Group 14" id="14"/>
            <p:cNvGrpSpPr/>
            <p:nvPr/>
          </p:nvGrpSpPr>
          <p:grpSpPr>
            <a:xfrm rot="0">
              <a:off x="0" y="5405661"/>
              <a:ext cx="11343382" cy="5153660"/>
              <a:chOff x="0" y="0"/>
              <a:chExt cx="11343382" cy="515366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1343382" cy="5153661"/>
              </a:xfrm>
              <a:custGeom>
                <a:avLst/>
                <a:gdLst/>
                <a:ahLst/>
                <a:cxnLst/>
                <a:rect r="r" b="b" t="t" l="l"/>
                <a:pathLst>
                  <a:path h="5153661" w="11343382">
                    <a:moveTo>
                      <a:pt x="0" y="140709"/>
                    </a:moveTo>
                    <a:cubicBezTo>
                      <a:pt x="0" y="63051"/>
                      <a:pt x="211758" y="0"/>
                      <a:pt x="472573" y="0"/>
                    </a:cubicBezTo>
                    <a:lnTo>
                      <a:pt x="10870809" y="0"/>
                    </a:lnTo>
                    <a:cubicBezTo>
                      <a:pt x="11131896" y="0"/>
                      <a:pt x="11343382" y="63051"/>
                      <a:pt x="11343382" y="140709"/>
                    </a:cubicBezTo>
                    <a:lnTo>
                      <a:pt x="11343382" y="5012951"/>
                    </a:lnTo>
                    <a:cubicBezTo>
                      <a:pt x="11343382" y="5090690"/>
                      <a:pt x="11131624" y="5153661"/>
                      <a:pt x="10870809" y="5153661"/>
                    </a:cubicBezTo>
                    <a:lnTo>
                      <a:pt x="472573" y="5153661"/>
                    </a:lnTo>
                    <a:cubicBezTo>
                      <a:pt x="211758" y="5153660"/>
                      <a:pt x="0" y="5090609"/>
                      <a:pt x="0" y="5012951"/>
                    </a:cubicBezTo>
                    <a:close/>
                  </a:path>
                </a:pathLst>
              </a:custGeom>
              <a:blipFill>
                <a:blip r:embed="rId7"/>
                <a:stretch>
                  <a:fillRect l="0" t="-7914" r="0" b="-7914"/>
                </a:stretch>
              </a:blipFill>
              <a:ln w="14288" cap="sq">
                <a:solidFill>
                  <a:srgbClr val="2C3680"/>
                </a:solidFill>
                <a:prstDash val="solid"/>
                <a:miter/>
              </a:ln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11925897" y="5405661"/>
              <a:ext cx="11343382" cy="5153660"/>
              <a:chOff x="0" y="0"/>
              <a:chExt cx="11343382" cy="515366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1343382" cy="5153661"/>
              </a:xfrm>
              <a:custGeom>
                <a:avLst/>
                <a:gdLst/>
                <a:ahLst/>
                <a:cxnLst/>
                <a:rect r="r" b="b" t="t" l="l"/>
                <a:pathLst>
                  <a:path h="5153661" w="11343382">
                    <a:moveTo>
                      <a:pt x="0" y="140709"/>
                    </a:moveTo>
                    <a:cubicBezTo>
                      <a:pt x="0" y="63051"/>
                      <a:pt x="211758" y="0"/>
                      <a:pt x="472573" y="0"/>
                    </a:cubicBezTo>
                    <a:lnTo>
                      <a:pt x="10870809" y="0"/>
                    </a:lnTo>
                    <a:cubicBezTo>
                      <a:pt x="11131896" y="0"/>
                      <a:pt x="11343382" y="63051"/>
                      <a:pt x="11343382" y="140709"/>
                    </a:cubicBezTo>
                    <a:lnTo>
                      <a:pt x="11343382" y="5012951"/>
                    </a:lnTo>
                    <a:cubicBezTo>
                      <a:pt x="11343382" y="5090690"/>
                      <a:pt x="11131624" y="5153661"/>
                      <a:pt x="10870809" y="5153661"/>
                    </a:cubicBezTo>
                    <a:lnTo>
                      <a:pt x="472573" y="5153661"/>
                    </a:lnTo>
                    <a:cubicBezTo>
                      <a:pt x="211758" y="5153660"/>
                      <a:pt x="0" y="5090609"/>
                      <a:pt x="0" y="5012951"/>
                    </a:cubicBezTo>
                    <a:close/>
                  </a:path>
                </a:pathLst>
              </a:custGeom>
              <a:blipFill>
                <a:blip r:embed="rId8"/>
                <a:stretch>
                  <a:fillRect l="0" t="-14655" r="0" b="-14655"/>
                </a:stretch>
              </a:blipFill>
              <a:ln w="14288" cap="sq">
                <a:solidFill>
                  <a:srgbClr val="2C3680"/>
                </a:solidFill>
                <a:prstDash val="solid"/>
                <a:miter/>
              </a:ln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11925897" y="0"/>
              <a:ext cx="11343382" cy="5153660"/>
              <a:chOff x="0" y="0"/>
              <a:chExt cx="11343382" cy="515366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1343382" cy="5153661"/>
              </a:xfrm>
              <a:custGeom>
                <a:avLst/>
                <a:gdLst/>
                <a:ahLst/>
                <a:cxnLst/>
                <a:rect r="r" b="b" t="t" l="l"/>
                <a:pathLst>
                  <a:path h="5153661" w="11343382">
                    <a:moveTo>
                      <a:pt x="0" y="140709"/>
                    </a:moveTo>
                    <a:cubicBezTo>
                      <a:pt x="0" y="63051"/>
                      <a:pt x="211758" y="0"/>
                      <a:pt x="472573" y="0"/>
                    </a:cubicBezTo>
                    <a:lnTo>
                      <a:pt x="10870809" y="0"/>
                    </a:lnTo>
                    <a:cubicBezTo>
                      <a:pt x="11131896" y="0"/>
                      <a:pt x="11343382" y="63051"/>
                      <a:pt x="11343382" y="140709"/>
                    </a:cubicBezTo>
                    <a:lnTo>
                      <a:pt x="11343382" y="5012951"/>
                    </a:lnTo>
                    <a:cubicBezTo>
                      <a:pt x="11343382" y="5090690"/>
                      <a:pt x="11131624" y="5153661"/>
                      <a:pt x="10870809" y="5153661"/>
                    </a:cubicBezTo>
                    <a:lnTo>
                      <a:pt x="472573" y="5153661"/>
                    </a:lnTo>
                    <a:cubicBezTo>
                      <a:pt x="211758" y="5153660"/>
                      <a:pt x="0" y="5090609"/>
                      <a:pt x="0" y="5012951"/>
                    </a:cubicBezTo>
                    <a:close/>
                  </a:path>
                </a:pathLst>
              </a:custGeom>
              <a:blipFill>
                <a:blip r:embed="rId9"/>
                <a:stretch>
                  <a:fillRect l="0" t="-15205" r="0" b="-15205"/>
                </a:stretch>
              </a:blipFill>
              <a:ln w="14288" cap="sq">
                <a:solidFill>
                  <a:srgbClr val="2C3680"/>
                </a:solidFill>
                <a:prstDash val="solid"/>
                <a:miter/>
              </a:ln>
            </p:spPr>
          </p:sp>
        </p:grp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13435" y="978027"/>
            <a:ext cx="1171194" cy="1171194"/>
            <a:chOff x="0" y="0"/>
            <a:chExt cx="1561592" cy="15615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61592" cy="1561592"/>
            </a:xfrm>
            <a:custGeom>
              <a:avLst/>
              <a:gdLst/>
              <a:ahLst/>
              <a:cxnLst/>
              <a:rect r="r" b="b" t="t" l="l"/>
              <a:pathLst>
                <a:path h="1561592" w="1561592">
                  <a:moveTo>
                    <a:pt x="0" y="780796"/>
                  </a:moveTo>
                  <a:cubicBezTo>
                    <a:pt x="0" y="349631"/>
                    <a:pt x="349631" y="0"/>
                    <a:pt x="780796" y="0"/>
                  </a:cubicBezTo>
                  <a:cubicBezTo>
                    <a:pt x="1211961" y="0"/>
                    <a:pt x="1561592" y="349631"/>
                    <a:pt x="1561592" y="780796"/>
                  </a:cubicBezTo>
                  <a:cubicBezTo>
                    <a:pt x="1561592" y="1211961"/>
                    <a:pt x="1211961" y="1561592"/>
                    <a:pt x="780796" y="1561592"/>
                  </a:cubicBezTo>
                  <a:cubicBezTo>
                    <a:pt x="349631" y="1561592"/>
                    <a:pt x="0" y="1211961"/>
                    <a:pt x="0" y="780796"/>
                  </a:cubicBezTo>
                  <a:close/>
                </a:path>
              </a:pathLst>
            </a:custGeom>
            <a:solidFill>
              <a:srgbClr val="22D3EE"/>
            </a:solidFill>
            <a:ln w="19050" cap="sq">
              <a:solidFill>
                <a:srgbClr val="22D3EE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134037" y="1298629"/>
            <a:ext cx="529990" cy="529990"/>
            <a:chOff x="0" y="0"/>
            <a:chExt cx="706653" cy="706653"/>
          </a:xfrm>
        </p:grpSpPr>
        <p:sp>
          <p:nvSpPr>
            <p:cNvPr name="Freeform 6" id="6" descr="FaStar"/>
            <p:cNvSpPr/>
            <p:nvPr/>
          </p:nvSpPr>
          <p:spPr>
            <a:xfrm flipH="false" flipV="false" rot="0">
              <a:off x="0" y="0"/>
              <a:ext cx="706628" cy="706628"/>
            </a:xfrm>
            <a:custGeom>
              <a:avLst/>
              <a:gdLst/>
              <a:ahLst/>
              <a:cxnLst/>
              <a:rect r="r" b="b" t="t" l="l"/>
              <a:pathLst>
                <a:path h="706628" w="706628">
                  <a:moveTo>
                    <a:pt x="0" y="0"/>
                  </a:moveTo>
                  <a:lnTo>
                    <a:pt x="706628" y="0"/>
                  </a:lnTo>
                  <a:lnTo>
                    <a:pt x="706628" y="706628"/>
                  </a:lnTo>
                  <a:lnTo>
                    <a:pt x="0" y="7066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3" b="-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2331720" y="1014984"/>
            <a:ext cx="14950440" cy="1097280"/>
            <a:chOff x="0" y="0"/>
            <a:chExt cx="1993392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9339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9933920">
                  <a:moveTo>
                    <a:pt x="0" y="0"/>
                  </a:moveTo>
                  <a:lnTo>
                    <a:pt x="19933920" y="0"/>
                  </a:lnTo>
                  <a:lnTo>
                    <a:pt x="199339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5483" r="0" b="-21548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993392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Innovation &amp; Uniqueness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22960" y="2430780"/>
            <a:ext cx="16459200" cy="42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450">
                <a:solidFill>
                  <a:srgbClr val="22D3E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IMPROVING ON: THRESHOLD ALARMS AND BLACK-BOX ML DASHBOARDS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15816" y="3010376"/>
            <a:ext cx="8106728" cy="4746308"/>
            <a:chOff x="0" y="0"/>
            <a:chExt cx="10808970" cy="63284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808970" cy="6328410"/>
            </a:xfrm>
            <a:custGeom>
              <a:avLst/>
              <a:gdLst/>
              <a:ahLst/>
              <a:cxnLst/>
              <a:rect r="r" b="b" t="t" l="l"/>
              <a:pathLst>
                <a:path h="6328410" w="10808970">
                  <a:moveTo>
                    <a:pt x="0" y="220091"/>
                  </a:moveTo>
                  <a:cubicBezTo>
                    <a:pt x="0" y="98552"/>
                    <a:pt x="98552" y="0"/>
                    <a:pt x="220091" y="0"/>
                  </a:cubicBezTo>
                  <a:lnTo>
                    <a:pt x="10588879" y="0"/>
                  </a:lnTo>
                  <a:cubicBezTo>
                    <a:pt x="10710418" y="0"/>
                    <a:pt x="10808970" y="98552"/>
                    <a:pt x="10808970" y="220091"/>
                  </a:cubicBezTo>
                  <a:lnTo>
                    <a:pt x="10808970" y="6108319"/>
                  </a:lnTo>
                  <a:cubicBezTo>
                    <a:pt x="10808970" y="6229858"/>
                    <a:pt x="10710418" y="6328410"/>
                    <a:pt x="10588879" y="6328410"/>
                  </a:cubicBezTo>
                  <a:lnTo>
                    <a:pt x="220091" y="6328410"/>
                  </a:lnTo>
                  <a:cubicBezTo>
                    <a:pt x="98552" y="6328410"/>
                    <a:pt x="0" y="6229858"/>
                    <a:pt x="0" y="6108319"/>
                  </a:cubicBezTo>
                  <a:close/>
                </a:path>
              </a:pathLst>
            </a:custGeom>
            <a:solidFill>
              <a:srgbClr val="151C4F"/>
            </a:solidFill>
            <a:ln w="14288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234440" y="3213735"/>
            <a:ext cx="7269480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b="true" sz="3300">
                <a:solidFill>
                  <a:srgbClr val="FBBF24"/>
                </a:solidFill>
                <a:latin typeface="Cambria Bold"/>
                <a:ea typeface="Cambria Bold"/>
                <a:cs typeface="Cambria Bold"/>
                <a:sym typeface="Cambria Bold"/>
              </a:rPr>
              <a:t>Typical tools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24915" y="4105275"/>
            <a:ext cx="567690" cy="567690"/>
            <a:chOff x="0" y="0"/>
            <a:chExt cx="756920" cy="7569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56920" cy="756920"/>
            </a:xfrm>
            <a:custGeom>
              <a:avLst/>
              <a:gdLst/>
              <a:ahLst/>
              <a:cxnLst/>
              <a:rect r="r" b="b" t="t" l="l"/>
              <a:pathLst>
                <a:path h="756920" w="75692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cubicBezTo>
                    <a:pt x="587502" y="0"/>
                    <a:pt x="756920" y="169418"/>
                    <a:pt x="756920" y="378460"/>
                  </a:cubicBezTo>
                  <a:cubicBezTo>
                    <a:pt x="756920" y="587502"/>
                    <a:pt x="587502" y="756920"/>
                    <a:pt x="378460" y="756920"/>
                  </a:cubicBez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solidFill>
              <a:srgbClr val="FBBF24"/>
            </a:solidFill>
            <a:ln w="19050" cap="sq">
              <a:solidFill>
                <a:srgbClr val="F43F5E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371600" y="4251960"/>
            <a:ext cx="274320" cy="274320"/>
            <a:chOff x="0" y="0"/>
            <a:chExt cx="365760" cy="365760"/>
          </a:xfrm>
        </p:grpSpPr>
        <p:sp>
          <p:nvSpPr>
            <p:cNvPr name="Freeform 17" id="17" descr="FaTimes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65760"/>
                  </a:lnTo>
                  <a:lnTo>
                    <a:pt x="0" y="365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2057400" y="4114800"/>
            <a:ext cx="6583680" cy="548640"/>
            <a:chOff x="0" y="0"/>
            <a:chExt cx="877824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778240" cy="731520"/>
            </a:xfrm>
            <a:custGeom>
              <a:avLst/>
              <a:gdLst/>
              <a:ahLst/>
              <a:cxnLst/>
              <a:rect r="r" b="b" t="t" l="l"/>
              <a:pathLst>
                <a:path h="73152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87782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Black-box risk score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24915" y="4996815"/>
            <a:ext cx="567690" cy="567690"/>
            <a:chOff x="0" y="0"/>
            <a:chExt cx="756920" cy="756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56920" cy="756920"/>
            </a:xfrm>
            <a:custGeom>
              <a:avLst/>
              <a:gdLst/>
              <a:ahLst/>
              <a:cxnLst/>
              <a:rect r="r" b="b" t="t" l="l"/>
              <a:pathLst>
                <a:path h="756920" w="75692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cubicBezTo>
                    <a:pt x="587502" y="0"/>
                    <a:pt x="756920" y="169418"/>
                    <a:pt x="756920" y="378460"/>
                  </a:cubicBezTo>
                  <a:cubicBezTo>
                    <a:pt x="756920" y="587502"/>
                    <a:pt x="587502" y="756920"/>
                    <a:pt x="378460" y="756920"/>
                  </a:cubicBez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solidFill>
              <a:srgbClr val="FBBF24"/>
            </a:solidFill>
            <a:ln w="19050" cap="sq">
              <a:solidFill>
                <a:srgbClr val="F43F5E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371600" y="5143500"/>
            <a:ext cx="274320" cy="274320"/>
            <a:chOff x="0" y="0"/>
            <a:chExt cx="365760" cy="365760"/>
          </a:xfrm>
        </p:grpSpPr>
        <p:sp>
          <p:nvSpPr>
            <p:cNvPr name="Freeform 24" id="24" descr="FaTimes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65760"/>
                  </a:lnTo>
                  <a:lnTo>
                    <a:pt x="0" y="365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2057400" y="5006340"/>
            <a:ext cx="6583680" cy="548640"/>
            <a:chOff x="0" y="0"/>
            <a:chExt cx="8778240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778240" cy="731520"/>
            </a:xfrm>
            <a:custGeom>
              <a:avLst/>
              <a:gdLst/>
              <a:ahLst/>
              <a:cxnLst/>
              <a:rect r="r" b="b" t="t" l="l"/>
              <a:pathLst>
                <a:path h="73152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87782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One sensor, one threshold alarm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24915" y="5888355"/>
            <a:ext cx="567690" cy="567690"/>
            <a:chOff x="0" y="0"/>
            <a:chExt cx="756920" cy="7569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56920" cy="756920"/>
            </a:xfrm>
            <a:custGeom>
              <a:avLst/>
              <a:gdLst/>
              <a:ahLst/>
              <a:cxnLst/>
              <a:rect r="r" b="b" t="t" l="l"/>
              <a:pathLst>
                <a:path h="756920" w="75692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cubicBezTo>
                    <a:pt x="587502" y="0"/>
                    <a:pt x="756920" y="169418"/>
                    <a:pt x="756920" y="378460"/>
                  </a:cubicBezTo>
                  <a:cubicBezTo>
                    <a:pt x="756920" y="587502"/>
                    <a:pt x="587502" y="756920"/>
                    <a:pt x="378460" y="756920"/>
                  </a:cubicBez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solidFill>
              <a:srgbClr val="FBBF24"/>
            </a:solidFill>
            <a:ln w="19050" cap="sq">
              <a:solidFill>
                <a:srgbClr val="F43F5E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371600" y="6035040"/>
            <a:ext cx="274320" cy="274320"/>
            <a:chOff x="0" y="0"/>
            <a:chExt cx="365760" cy="365760"/>
          </a:xfrm>
        </p:grpSpPr>
        <p:sp>
          <p:nvSpPr>
            <p:cNvPr name="Freeform 31" id="31" descr="FaTimes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65760"/>
                  </a:lnTo>
                  <a:lnTo>
                    <a:pt x="0" y="365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2057400" y="5897880"/>
            <a:ext cx="6583680" cy="548640"/>
            <a:chOff x="0" y="0"/>
            <a:chExt cx="877824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778240" cy="731520"/>
            </a:xfrm>
            <a:custGeom>
              <a:avLst/>
              <a:gdLst/>
              <a:ahLst/>
              <a:cxnLst/>
              <a:rect r="r" b="b" t="t" l="l"/>
              <a:pathLst>
                <a:path h="73152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87782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Alert ends at "go check it"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24915" y="6779895"/>
            <a:ext cx="567690" cy="567690"/>
            <a:chOff x="0" y="0"/>
            <a:chExt cx="756920" cy="7569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56920" cy="756920"/>
            </a:xfrm>
            <a:custGeom>
              <a:avLst/>
              <a:gdLst/>
              <a:ahLst/>
              <a:cxnLst/>
              <a:rect r="r" b="b" t="t" l="l"/>
              <a:pathLst>
                <a:path h="756920" w="75692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cubicBezTo>
                    <a:pt x="587502" y="0"/>
                    <a:pt x="756920" y="169418"/>
                    <a:pt x="756920" y="378460"/>
                  </a:cubicBezTo>
                  <a:cubicBezTo>
                    <a:pt x="756920" y="587502"/>
                    <a:pt x="587502" y="756920"/>
                    <a:pt x="378460" y="756920"/>
                  </a:cubicBez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solidFill>
              <a:srgbClr val="FBBF24"/>
            </a:solidFill>
            <a:ln w="19050" cap="sq">
              <a:solidFill>
                <a:srgbClr val="F43F5E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371600" y="6926580"/>
            <a:ext cx="274320" cy="274320"/>
            <a:chOff x="0" y="0"/>
            <a:chExt cx="365760" cy="365760"/>
          </a:xfrm>
        </p:grpSpPr>
        <p:sp>
          <p:nvSpPr>
            <p:cNvPr name="Freeform 38" id="38" descr="FaTimes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65760"/>
                  </a:lnTo>
                  <a:lnTo>
                    <a:pt x="0" y="365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2057400" y="6789420"/>
            <a:ext cx="6583680" cy="548640"/>
            <a:chOff x="0" y="0"/>
            <a:chExt cx="8778240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778240" cy="731520"/>
            </a:xfrm>
            <a:custGeom>
              <a:avLst/>
              <a:gdLst/>
              <a:ahLst/>
              <a:cxnLst/>
              <a:rect r="r" b="b" t="t" l="l"/>
              <a:pathLst>
                <a:path h="73152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87782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trail of who fixed what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360884" y="3010376"/>
            <a:ext cx="8106728" cy="4746308"/>
            <a:chOff x="0" y="0"/>
            <a:chExt cx="10808970" cy="632841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808970" cy="6328410"/>
            </a:xfrm>
            <a:custGeom>
              <a:avLst/>
              <a:gdLst/>
              <a:ahLst/>
              <a:cxnLst/>
              <a:rect r="r" b="b" t="t" l="l"/>
              <a:pathLst>
                <a:path h="6328410" w="10808970">
                  <a:moveTo>
                    <a:pt x="0" y="220091"/>
                  </a:moveTo>
                  <a:cubicBezTo>
                    <a:pt x="0" y="98552"/>
                    <a:pt x="98552" y="0"/>
                    <a:pt x="220091" y="0"/>
                  </a:cubicBezTo>
                  <a:lnTo>
                    <a:pt x="10588879" y="0"/>
                  </a:lnTo>
                  <a:cubicBezTo>
                    <a:pt x="10710418" y="0"/>
                    <a:pt x="10808970" y="98552"/>
                    <a:pt x="10808970" y="220091"/>
                  </a:cubicBezTo>
                  <a:lnTo>
                    <a:pt x="10808970" y="6108319"/>
                  </a:lnTo>
                  <a:cubicBezTo>
                    <a:pt x="10808970" y="6229858"/>
                    <a:pt x="10710418" y="6328410"/>
                    <a:pt x="10588879" y="6328410"/>
                  </a:cubicBezTo>
                  <a:lnTo>
                    <a:pt x="220091" y="6328410"/>
                  </a:lnTo>
                  <a:cubicBezTo>
                    <a:pt x="98552" y="6328410"/>
                    <a:pt x="0" y="6229858"/>
                    <a:pt x="0" y="6108319"/>
                  </a:cubicBezTo>
                  <a:close/>
                </a:path>
              </a:pathLst>
            </a:custGeom>
            <a:solidFill>
              <a:srgbClr val="151C4F"/>
            </a:solidFill>
            <a:ln w="14288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44" id="44"/>
          <p:cNvSpPr txBox="true"/>
          <p:nvPr/>
        </p:nvSpPr>
        <p:spPr>
          <a:xfrm rot="0">
            <a:off x="9779508" y="3213735"/>
            <a:ext cx="7269480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34D399"/>
                </a:solidFill>
                <a:latin typeface="Cambria Bold"/>
                <a:ea typeface="Cambria Bold"/>
                <a:cs typeface="Cambria Bold"/>
                <a:sym typeface="Cambria Bold"/>
              </a:rPr>
              <a:t>Sentinel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9769983" y="4105275"/>
            <a:ext cx="567690" cy="567690"/>
            <a:chOff x="0" y="0"/>
            <a:chExt cx="756920" cy="7569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56920" cy="756920"/>
            </a:xfrm>
            <a:custGeom>
              <a:avLst/>
              <a:gdLst/>
              <a:ahLst/>
              <a:cxnLst/>
              <a:rect r="r" b="b" t="t" l="l"/>
              <a:pathLst>
                <a:path h="756920" w="75692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cubicBezTo>
                    <a:pt x="587502" y="0"/>
                    <a:pt x="756920" y="169418"/>
                    <a:pt x="756920" y="378460"/>
                  </a:cubicBezTo>
                  <a:cubicBezTo>
                    <a:pt x="756920" y="587502"/>
                    <a:pt x="587502" y="756920"/>
                    <a:pt x="378460" y="756920"/>
                  </a:cubicBez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solidFill>
              <a:srgbClr val="34D399"/>
            </a:solidFill>
            <a:ln w="19050" cap="sq">
              <a:solidFill>
                <a:srgbClr val="34D399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9916668" y="4251960"/>
            <a:ext cx="274320" cy="274320"/>
            <a:chOff x="0" y="0"/>
            <a:chExt cx="365760" cy="365760"/>
          </a:xfrm>
        </p:grpSpPr>
        <p:sp>
          <p:nvSpPr>
            <p:cNvPr name="Freeform 48" id="48" descr="FaCheck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65760"/>
                  </a:lnTo>
                  <a:lnTo>
                    <a:pt x="0" y="365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0602468" y="4114800"/>
            <a:ext cx="6583680" cy="548640"/>
            <a:chOff x="0" y="0"/>
            <a:chExt cx="8778240" cy="7315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778240" cy="731520"/>
            </a:xfrm>
            <a:custGeom>
              <a:avLst/>
              <a:gdLst/>
              <a:ahLst/>
              <a:cxnLst/>
              <a:rect r="r" b="b" t="t" l="l"/>
              <a:pathLst>
                <a:path h="73152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87782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SHAP reason for every score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769983" y="4996815"/>
            <a:ext cx="567690" cy="567690"/>
            <a:chOff x="0" y="0"/>
            <a:chExt cx="756920" cy="7569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56920" cy="756920"/>
            </a:xfrm>
            <a:custGeom>
              <a:avLst/>
              <a:gdLst/>
              <a:ahLst/>
              <a:cxnLst/>
              <a:rect r="r" b="b" t="t" l="l"/>
              <a:pathLst>
                <a:path h="756920" w="75692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cubicBezTo>
                    <a:pt x="587502" y="0"/>
                    <a:pt x="756920" y="169418"/>
                    <a:pt x="756920" y="378460"/>
                  </a:cubicBezTo>
                  <a:cubicBezTo>
                    <a:pt x="756920" y="587502"/>
                    <a:pt x="587502" y="756920"/>
                    <a:pt x="378460" y="756920"/>
                  </a:cubicBez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solidFill>
              <a:srgbClr val="34D399"/>
            </a:solidFill>
            <a:ln w="19050" cap="sq">
              <a:solidFill>
                <a:srgbClr val="34D399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9916668" y="5143500"/>
            <a:ext cx="274320" cy="274320"/>
            <a:chOff x="0" y="0"/>
            <a:chExt cx="365760" cy="365760"/>
          </a:xfrm>
        </p:grpSpPr>
        <p:sp>
          <p:nvSpPr>
            <p:cNvPr name="Freeform 55" id="55" descr="FaCheck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65760"/>
                  </a:lnTo>
                  <a:lnTo>
                    <a:pt x="0" y="365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0602468" y="5006340"/>
            <a:ext cx="6583680" cy="548640"/>
            <a:chOff x="0" y="0"/>
            <a:chExt cx="8778240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778240" cy="731520"/>
            </a:xfrm>
            <a:custGeom>
              <a:avLst/>
              <a:gdLst/>
              <a:ahLst/>
              <a:cxnLst/>
              <a:rect r="r" b="b" t="t" l="l"/>
              <a:pathLst>
                <a:path h="73152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87782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 models: overall + 5 failure modes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769983" y="5888355"/>
            <a:ext cx="567690" cy="567690"/>
            <a:chOff x="0" y="0"/>
            <a:chExt cx="756920" cy="7569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56920" cy="756920"/>
            </a:xfrm>
            <a:custGeom>
              <a:avLst/>
              <a:gdLst/>
              <a:ahLst/>
              <a:cxnLst/>
              <a:rect r="r" b="b" t="t" l="l"/>
              <a:pathLst>
                <a:path h="756920" w="75692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cubicBezTo>
                    <a:pt x="587502" y="0"/>
                    <a:pt x="756920" y="169418"/>
                    <a:pt x="756920" y="378460"/>
                  </a:cubicBezTo>
                  <a:cubicBezTo>
                    <a:pt x="756920" y="587502"/>
                    <a:pt x="587502" y="756920"/>
                    <a:pt x="378460" y="756920"/>
                  </a:cubicBez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solidFill>
              <a:srgbClr val="34D399"/>
            </a:solidFill>
            <a:ln w="19050" cap="sq">
              <a:solidFill>
                <a:srgbClr val="34D399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9916668" y="6035040"/>
            <a:ext cx="274320" cy="274320"/>
            <a:chOff x="0" y="0"/>
            <a:chExt cx="365760" cy="365760"/>
          </a:xfrm>
        </p:grpSpPr>
        <p:sp>
          <p:nvSpPr>
            <p:cNvPr name="Freeform 62" id="62" descr="FaCheck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65760"/>
                  </a:lnTo>
                  <a:lnTo>
                    <a:pt x="0" y="365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0602468" y="5897880"/>
            <a:ext cx="6583680" cy="548640"/>
            <a:chOff x="0" y="0"/>
            <a:chExt cx="8778240" cy="7315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778240" cy="731520"/>
            </a:xfrm>
            <a:custGeom>
              <a:avLst/>
              <a:gdLst/>
              <a:ahLst/>
              <a:cxnLst/>
              <a:rect r="r" b="b" t="t" l="l"/>
              <a:pathLst>
                <a:path h="73152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87782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What-if finds a lower-risk setting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769983" y="6779895"/>
            <a:ext cx="567690" cy="567690"/>
            <a:chOff x="0" y="0"/>
            <a:chExt cx="756920" cy="75692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56920" cy="756920"/>
            </a:xfrm>
            <a:custGeom>
              <a:avLst/>
              <a:gdLst/>
              <a:ahLst/>
              <a:cxnLst/>
              <a:rect r="r" b="b" t="t" l="l"/>
              <a:pathLst>
                <a:path h="756920" w="75692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cubicBezTo>
                    <a:pt x="587502" y="0"/>
                    <a:pt x="756920" y="169418"/>
                    <a:pt x="756920" y="378460"/>
                  </a:cubicBezTo>
                  <a:cubicBezTo>
                    <a:pt x="756920" y="587502"/>
                    <a:pt x="587502" y="756920"/>
                    <a:pt x="378460" y="756920"/>
                  </a:cubicBez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solidFill>
              <a:srgbClr val="34D399"/>
            </a:solidFill>
            <a:ln w="19050" cap="sq">
              <a:solidFill>
                <a:srgbClr val="34D399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9916668" y="6926580"/>
            <a:ext cx="274320" cy="274320"/>
            <a:chOff x="0" y="0"/>
            <a:chExt cx="365760" cy="365760"/>
          </a:xfrm>
        </p:grpSpPr>
        <p:sp>
          <p:nvSpPr>
            <p:cNvPr name="Freeform 69" id="69" descr="FaCheck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65760"/>
                  </a:lnTo>
                  <a:lnTo>
                    <a:pt x="0" y="365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0602468" y="6789420"/>
            <a:ext cx="6583680" cy="548640"/>
            <a:chOff x="0" y="0"/>
            <a:chExt cx="8778240" cy="7315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778240" cy="731520"/>
            </a:xfrm>
            <a:custGeom>
              <a:avLst/>
              <a:gdLst/>
              <a:ahLst/>
              <a:cxnLst/>
              <a:rect r="r" b="b" t="t" l="l"/>
              <a:pathLst>
                <a:path h="73152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87782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Role-gated tasks, 24h verify SLA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815816" y="8085296"/>
            <a:ext cx="16651796" cy="1317308"/>
            <a:chOff x="0" y="0"/>
            <a:chExt cx="22202394" cy="175641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2202394" cy="1756410"/>
            </a:xfrm>
            <a:custGeom>
              <a:avLst/>
              <a:gdLst/>
              <a:ahLst/>
              <a:cxnLst/>
              <a:rect r="r" b="b" t="t" l="l"/>
              <a:pathLst>
                <a:path h="1756410" w="22202394">
                  <a:moveTo>
                    <a:pt x="0" y="221869"/>
                  </a:moveTo>
                  <a:cubicBezTo>
                    <a:pt x="0" y="99314"/>
                    <a:pt x="99314" y="0"/>
                    <a:pt x="221869" y="0"/>
                  </a:cubicBezTo>
                  <a:lnTo>
                    <a:pt x="21980525" y="0"/>
                  </a:lnTo>
                  <a:cubicBezTo>
                    <a:pt x="22103080" y="0"/>
                    <a:pt x="22202394" y="99314"/>
                    <a:pt x="22202394" y="221869"/>
                  </a:cubicBezTo>
                  <a:lnTo>
                    <a:pt x="22202394" y="1534541"/>
                  </a:lnTo>
                  <a:cubicBezTo>
                    <a:pt x="22202394" y="1657096"/>
                    <a:pt x="22103080" y="1756410"/>
                    <a:pt x="21980525" y="1756410"/>
                  </a:cubicBezTo>
                  <a:lnTo>
                    <a:pt x="221869" y="1756410"/>
                  </a:lnTo>
                  <a:cubicBezTo>
                    <a:pt x="99314" y="1756410"/>
                    <a:pt x="0" y="1657096"/>
                    <a:pt x="0" y="1534541"/>
                  </a:cubicBezTo>
                  <a:close/>
                </a:path>
              </a:pathLst>
            </a:custGeom>
            <a:solidFill>
              <a:srgbClr val="22D3EE"/>
            </a:solidFill>
            <a:ln w="14288" cap="sq">
              <a:solidFill>
                <a:srgbClr val="22D3EE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1234440" y="8092440"/>
            <a:ext cx="15773400" cy="1303020"/>
            <a:chOff x="0" y="0"/>
            <a:chExt cx="21031200" cy="173736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1031200" cy="1737360"/>
            </a:xfrm>
            <a:custGeom>
              <a:avLst/>
              <a:gdLst/>
              <a:ahLst/>
              <a:cxnLst/>
              <a:rect r="r" b="b" t="t" l="l"/>
              <a:pathLst>
                <a:path h="17373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5871" r="0" b="-185871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"/>
              <a:ext cx="21031200" cy="1746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0A0F2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Sentinel doesn't just predict a failure: it explains it, tests the fix, and tracks it to closure.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13435" y="978027"/>
            <a:ext cx="1171194" cy="1171194"/>
            <a:chOff x="0" y="0"/>
            <a:chExt cx="1561592" cy="15615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61592" cy="1561592"/>
            </a:xfrm>
            <a:custGeom>
              <a:avLst/>
              <a:gdLst/>
              <a:ahLst/>
              <a:cxnLst/>
              <a:rect r="r" b="b" t="t" l="l"/>
              <a:pathLst>
                <a:path h="1561592" w="1561592">
                  <a:moveTo>
                    <a:pt x="0" y="780796"/>
                  </a:moveTo>
                  <a:cubicBezTo>
                    <a:pt x="0" y="349631"/>
                    <a:pt x="349631" y="0"/>
                    <a:pt x="780796" y="0"/>
                  </a:cubicBezTo>
                  <a:cubicBezTo>
                    <a:pt x="1211961" y="0"/>
                    <a:pt x="1561592" y="349631"/>
                    <a:pt x="1561592" y="780796"/>
                  </a:cubicBezTo>
                  <a:cubicBezTo>
                    <a:pt x="1561592" y="1211961"/>
                    <a:pt x="1211961" y="1561592"/>
                    <a:pt x="780796" y="1561592"/>
                  </a:cubicBezTo>
                  <a:cubicBezTo>
                    <a:pt x="349631" y="1561592"/>
                    <a:pt x="0" y="1211961"/>
                    <a:pt x="0" y="780796"/>
                  </a:cubicBezTo>
                  <a:close/>
                </a:path>
              </a:pathLst>
            </a:custGeom>
            <a:solidFill>
              <a:srgbClr val="22D3EE"/>
            </a:solidFill>
            <a:ln w="19050" cap="sq">
              <a:solidFill>
                <a:srgbClr val="22D3EE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134037" y="1298629"/>
            <a:ext cx="529990" cy="529990"/>
            <a:chOff x="0" y="0"/>
            <a:chExt cx="706653" cy="706653"/>
          </a:xfrm>
        </p:grpSpPr>
        <p:sp>
          <p:nvSpPr>
            <p:cNvPr name="Freeform 6" id="6" descr="FaCheckCircle"/>
            <p:cNvSpPr/>
            <p:nvPr/>
          </p:nvSpPr>
          <p:spPr>
            <a:xfrm flipH="false" flipV="false" rot="0">
              <a:off x="0" y="0"/>
              <a:ext cx="706628" cy="706628"/>
            </a:xfrm>
            <a:custGeom>
              <a:avLst/>
              <a:gdLst/>
              <a:ahLst/>
              <a:cxnLst/>
              <a:rect r="r" b="b" t="t" l="l"/>
              <a:pathLst>
                <a:path h="706628" w="706628">
                  <a:moveTo>
                    <a:pt x="0" y="0"/>
                  </a:moveTo>
                  <a:lnTo>
                    <a:pt x="706628" y="0"/>
                  </a:lnTo>
                  <a:lnTo>
                    <a:pt x="706628" y="706628"/>
                  </a:lnTo>
                  <a:lnTo>
                    <a:pt x="0" y="7066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3" b="-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2331720" y="1014984"/>
            <a:ext cx="14950440" cy="1097280"/>
            <a:chOff x="0" y="0"/>
            <a:chExt cx="1993392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9339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9933920">
                  <a:moveTo>
                    <a:pt x="0" y="0"/>
                  </a:moveTo>
                  <a:lnTo>
                    <a:pt x="19933920" y="0"/>
                  </a:lnTo>
                  <a:lnTo>
                    <a:pt x="199339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5483" r="0" b="-21548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993392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Implementation Feasibility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15816" y="2530316"/>
            <a:ext cx="8792528" cy="3237548"/>
            <a:chOff x="0" y="0"/>
            <a:chExt cx="11723370" cy="43167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723370" cy="4316730"/>
            </a:xfrm>
            <a:custGeom>
              <a:avLst/>
              <a:gdLst/>
              <a:ahLst/>
              <a:cxnLst/>
              <a:rect r="r" b="b" t="t" l="l"/>
              <a:pathLst>
                <a:path h="4316730" w="11723370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11502898" y="0"/>
                  </a:lnTo>
                  <a:cubicBezTo>
                    <a:pt x="11624691" y="0"/>
                    <a:pt x="11723370" y="98679"/>
                    <a:pt x="11723370" y="220472"/>
                  </a:cubicBezTo>
                  <a:lnTo>
                    <a:pt x="11723370" y="4096258"/>
                  </a:lnTo>
                  <a:cubicBezTo>
                    <a:pt x="11723370" y="4218051"/>
                    <a:pt x="11624691" y="4316730"/>
                    <a:pt x="11502898" y="4316730"/>
                  </a:cubicBezTo>
                  <a:lnTo>
                    <a:pt x="220472" y="4316730"/>
                  </a:lnTo>
                  <a:cubicBezTo>
                    <a:pt x="98679" y="4316730"/>
                    <a:pt x="0" y="4218051"/>
                    <a:pt x="0" y="4096258"/>
                  </a:cubicBezTo>
                  <a:close/>
                </a:path>
              </a:pathLst>
            </a:custGeom>
            <a:solidFill>
              <a:srgbClr val="151C4F"/>
            </a:solidFill>
            <a:ln w="14288" cap="sq">
              <a:solidFill>
                <a:srgbClr val="2C3680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234440" y="2677668"/>
            <a:ext cx="795528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450">
                <a:solidFill>
                  <a:srgbClr val="22D3E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BUILT AND RUNNING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34440" y="3166110"/>
            <a:ext cx="8092440" cy="2526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Full stack tested live with real MySQL</a:t>
            </a:r>
          </a:p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10,000 readings scored in about 74 s</a:t>
            </a:r>
          </a:p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23 regression tests on the ML service</a:t>
            </a:r>
          </a:p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Upload, SHAP, what-if, tasks, analytics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15816" y="6027896"/>
            <a:ext cx="8792528" cy="2277428"/>
            <a:chOff x="0" y="0"/>
            <a:chExt cx="11723370" cy="30365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723370" cy="3036570"/>
            </a:xfrm>
            <a:custGeom>
              <a:avLst/>
              <a:gdLst/>
              <a:ahLst/>
              <a:cxnLst/>
              <a:rect r="r" b="b" t="t" l="l"/>
              <a:pathLst>
                <a:path h="3036570" w="11723370">
                  <a:moveTo>
                    <a:pt x="0" y="220853"/>
                  </a:moveTo>
                  <a:cubicBezTo>
                    <a:pt x="0" y="98933"/>
                    <a:pt x="98933" y="0"/>
                    <a:pt x="220853" y="0"/>
                  </a:cubicBezTo>
                  <a:lnTo>
                    <a:pt x="11502517" y="0"/>
                  </a:lnTo>
                  <a:cubicBezTo>
                    <a:pt x="11624437" y="0"/>
                    <a:pt x="11723370" y="98933"/>
                    <a:pt x="11723370" y="220853"/>
                  </a:cubicBezTo>
                  <a:lnTo>
                    <a:pt x="11723370" y="2815717"/>
                  </a:lnTo>
                  <a:cubicBezTo>
                    <a:pt x="11723370" y="2937637"/>
                    <a:pt x="11624437" y="3036570"/>
                    <a:pt x="11502517" y="3036570"/>
                  </a:cubicBezTo>
                  <a:lnTo>
                    <a:pt x="220853" y="3036570"/>
                  </a:lnTo>
                  <a:cubicBezTo>
                    <a:pt x="98933" y="3036570"/>
                    <a:pt x="0" y="2937637"/>
                    <a:pt x="0" y="2815717"/>
                  </a:cubicBezTo>
                  <a:close/>
                </a:path>
              </a:pathLst>
            </a:custGeom>
            <a:solidFill>
              <a:srgbClr val="151C4F"/>
            </a:solidFill>
            <a:ln w="14288" cap="sq">
              <a:solidFill>
                <a:srgbClr val="2C3680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234440" y="6175248"/>
            <a:ext cx="795528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450">
                <a:solidFill>
                  <a:srgbClr val="22D3E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PROTOTYPE → PRODUCTION NEEDS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34440" y="6636258"/>
            <a:ext cx="8092440" cy="156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Live sensor feed instead of CSV upload</a:t>
            </a:r>
          </a:p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Retrain on real plant data</a:t>
            </a:r>
          </a:p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Harden security and monitoring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936956" y="2530316"/>
            <a:ext cx="7530656" cy="5775008"/>
            <a:chOff x="0" y="0"/>
            <a:chExt cx="10040874" cy="77000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040874" cy="7700010"/>
            </a:xfrm>
            <a:custGeom>
              <a:avLst/>
              <a:gdLst/>
              <a:ahLst/>
              <a:cxnLst/>
              <a:rect r="r" b="b" t="t" l="l"/>
              <a:pathLst>
                <a:path h="7700010" w="10040874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9820910" y="0"/>
                  </a:lnTo>
                  <a:cubicBezTo>
                    <a:pt x="9942449" y="0"/>
                    <a:pt x="10040874" y="98552"/>
                    <a:pt x="10040874" y="219964"/>
                  </a:cubicBezTo>
                  <a:lnTo>
                    <a:pt x="10040874" y="7480046"/>
                  </a:lnTo>
                  <a:cubicBezTo>
                    <a:pt x="10040874" y="7601585"/>
                    <a:pt x="9942322" y="7700010"/>
                    <a:pt x="9820910" y="7700010"/>
                  </a:cubicBezTo>
                  <a:lnTo>
                    <a:pt x="219964" y="7700010"/>
                  </a:lnTo>
                  <a:cubicBezTo>
                    <a:pt x="98552" y="7700010"/>
                    <a:pt x="0" y="7601458"/>
                    <a:pt x="0" y="7480046"/>
                  </a:cubicBezTo>
                  <a:close/>
                </a:path>
              </a:pathLst>
            </a:custGeom>
            <a:solidFill>
              <a:srgbClr val="151C4F"/>
            </a:solidFill>
            <a:ln w="14288" cap="sq">
              <a:solidFill>
                <a:srgbClr val="2C3680"/>
              </a:solidFill>
              <a:prstDash val="solid"/>
              <a:miter/>
            </a:ln>
          </p:spPr>
        </p:sp>
      </p:grpSp>
      <p:pic>
        <p:nvPicPr>
          <p:cNvPr name="Picture 20" id="2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918463" y="2334423"/>
            <a:ext cx="9193860" cy="63672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 rot="0">
            <a:off x="813435" y="8517636"/>
            <a:ext cx="2194560" cy="411480"/>
            <a:chOff x="0" y="0"/>
            <a:chExt cx="2926080" cy="548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926080" cy="548640"/>
            </a:xfrm>
            <a:custGeom>
              <a:avLst/>
              <a:gdLst/>
              <a:ahLst/>
              <a:cxnLst/>
              <a:rect r="r" b="b" t="t" l="l"/>
              <a:pathLst>
                <a:path h="5486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9260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50">
                  <a:solidFill>
                    <a:srgbClr val="FBBF2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KNOWN LIMITS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145155" y="8425815"/>
            <a:ext cx="3585210" cy="595122"/>
            <a:chOff x="0" y="0"/>
            <a:chExt cx="4780280" cy="79349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780280" cy="793496"/>
            </a:xfrm>
            <a:custGeom>
              <a:avLst/>
              <a:gdLst/>
              <a:ahLst/>
              <a:cxnLst/>
              <a:rect r="r" b="b" t="t" l="l"/>
              <a:pathLst>
                <a:path h="793496" w="4780280">
                  <a:moveTo>
                    <a:pt x="0" y="396748"/>
                  </a:moveTo>
                  <a:cubicBezTo>
                    <a:pt x="0" y="177673"/>
                    <a:pt x="177673" y="0"/>
                    <a:pt x="396748" y="0"/>
                  </a:cubicBezTo>
                  <a:lnTo>
                    <a:pt x="4383532" y="0"/>
                  </a:lnTo>
                  <a:cubicBezTo>
                    <a:pt x="4602607" y="0"/>
                    <a:pt x="4780280" y="177673"/>
                    <a:pt x="4780280" y="396748"/>
                  </a:cubicBezTo>
                  <a:cubicBezTo>
                    <a:pt x="4780280" y="615823"/>
                    <a:pt x="4602607" y="793496"/>
                    <a:pt x="4383532" y="793496"/>
                  </a:cubicBezTo>
                  <a:lnTo>
                    <a:pt x="396748" y="793496"/>
                  </a:lnTo>
                  <a:cubicBezTo>
                    <a:pt x="177673" y="793496"/>
                    <a:pt x="0" y="615823"/>
                    <a:pt x="0" y="396748"/>
                  </a:cubicBezTo>
                  <a:close/>
                </a:path>
              </a:pathLst>
            </a:custGeom>
            <a:solidFill>
              <a:srgbClr val="151C4F"/>
            </a:solidFill>
            <a:ln w="19050" cap="sq">
              <a:solidFill>
                <a:srgbClr val="FBBF24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3154680" y="8435340"/>
            <a:ext cx="3566160" cy="576072"/>
            <a:chOff x="0" y="0"/>
            <a:chExt cx="4754880" cy="76809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754880" cy="768096"/>
            </a:xfrm>
            <a:custGeom>
              <a:avLst/>
              <a:gdLst/>
              <a:ahLst/>
              <a:cxnLst/>
              <a:rect r="r" b="b" t="t" l="l"/>
              <a:pathLst>
                <a:path h="768096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621" r="0" b="-7062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9525"/>
              <a:ext cx="4754880" cy="7585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Simulated AI4I-style data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848475" y="8425815"/>
            <a:ext cx="5505450" cy="595122"/>
            <a:chOff x="0" y="0"/>
            <a:chExt cx="7340600" cy="79349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40600" cy="793496"/>
            </a:xfrm>
            <a:custGeom>
              <a:avLst/>
              <a:gdLst/>
              <a:ahLst/>
              <a:cxnLst/>
              <a:rect r="r" b="b" t="t" l="l"/>
              <a:pathLst>
                <a:path h="793496" w="7340600">
                  <a:moveTo>
                    <a:pt x="0" y="396748"/>
                  </a:moveTo>
                  <a:cubicBezTo>
                    <a:pt x="0" y="177673"/>
                    <a:pt x="177673" y="0"/>
                    <a:pt x="396748" y="0"/>
                  </a:cubicBezTo>
                  <a:lnTo>
                    <a:pt x="6943852" y="0"/>
                  </a:lnTo>
                  <a:cubicBezTo>
                    <a:pt x="7162927" y="0"/>
                    <a:pt x="7340600" y="177673"/>
                    <a:pt x="7340600" y="396748"/>
                  </a:cubicBezTo>
                  <a:cubicBezTo>
                    <a:pt x="7340600" y="615823"/>
                    <a:pt x="7162927" y="793496"/>
                    <a:pt x="6943852" y="793496"/>
                  </a:cubicBezTo>
                  <a:lnTo>
                    <a:pt x="396748" y="793496"/>
                  </a:lnTo>
                  <a:cubicBezTo>
                    <a:pt x="177673" y="793496"/>
                    <a:pt x="0" y="615823"/>
                    <a:pt x="0" y="396748"/>
                  </a:cubicBezTo>
                  <a:close/>
                </a:path>
              </a:pathLst>
            </a:custGeom>
            <a:solidFill>
              <a:srgbClr val="151C4F"/>
            </a:solidFill>
            <a:ln w="19050" cap="sq">
              <a:solidFill>
                <a:srgbClr val="FBBF24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6858000" y="8435340"/>
            <a:ext cx="5486400" cy="576072"/>
            <a:chOff x="0" y="0"/>
            <a:chExt cx="7315200" cy="7680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315200" cy="768096"/>
            </a:xfrm>
            <a:custGeom>
              <a:avLst/>
              <a:gdLst/>
              <a:ahLst/>
              <a:cxnLst/>
              <a:rect r="r" b="b" t="t" l="l"/>
              <a:pathLst>
                <a:path h="768096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5571" r="0" b="-135571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9525"/>
              <a:ext cx="7315200" cy="7585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70% precision: 94 false alarms vs 223 caught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472035" y="8425815"/>
            <a:ext cx="4997958" cy="595122"/>
            <a:chOff x="0" y="0"/>
            <a:chExt cx="6663944" cy="79349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663944" cy="793496"/>
            </a:xfrm>
            <a:custGeom>
              <a:avLst/>
              <a:gdLst/>
              <a:ahLst/>
              <a:cxnLst/>
              <a:rect r="r" b="b" t="t" l="l"/>
              <a:pathLst>
                <a:path h="793496" w="6663944">
                  <a:moveTo>
                    <a:pt x="0" y="396748"/>
                  </a:moveTo>
                  <a:cubicBezTo>
                    <a:pt x="0" y="177673"/>
                    <a:pt x="177673" y="0"/>
                    <a:pt x="396748" y="0"/>
                  </a:cubicBezTo>
                  <a:lnTo>
                    <a:pt x="6267196" y="0"/>
                  </a:lnTo>
                  <a:cubicBezTo>
                    <a:pt x="6486271" y="0"/>
                    <a:pt x="6663944" y="177673"/>
                    <a:pt x="6663944" y="396748"/>
                  </a:cubicBezTo>
                  <a:cubicBezTo>
                    <a:pt x="6663944" y="615823"/>
                    <a:pt x="6486271" y="793496"/>
                    <a:pt x="6267196" y="793496"/>
                  </a:cubicBezTo>
                  <a:lnTo>
                    <a:pt x="396748" y="793496"/>
                  </a:lnTo>
                  <a:cubicBezTo>
                    <a:pt x="177673" y="793496"/>
                    <a:pt x="0" y="615823"/>
                    <a:pt x="0" y="396748"/>
                  </a:cubicBezTo>
                  <a:close/>
                </a:path>
              </a:pathLst>
            </a:custGeom>
            <a:solidFill>
              <a:srgbClr val="151C4F"/>
            </a:solidFill>
            <a:ln w="19050" cap="sq">
              <a:solidFill>
                <a:srgbClr val="FBBF24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2481560" y="8435340"/>
            <a:ext cx="4978908" cy="576072"/>
            <a:chOff x="0" y="0"/>
            <a:chExt cx="6638544" cy="76809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638544" cy="768096"/>
            </a:xfrm>
            <a:custGeom>
              <a:avLst/>
              <a:gdLst/>
              <a:ahLst/>
              <a:cxnLst/>
              <a:rect r="r" b="b" t="t" l="l"/>
              <a:pathLst>
                <a:path h="768096" w="6638544">
                  <a:moveTo>
                    <a:pt x="0" y="0"/>
                  </a:moveTo>
                  <a:lnTo>
                    <a:pt x="6638544" y="0"/>
                  </a:lnTo>
                  <a:lnTo>
                    <a:pt x="663854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8406" r="0" b="-11840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9525"/>
              <a:ext cx="6638544" cy="7585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Random failures: 8 cases, unpredictable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13435" y="978027"/>
            <a:ext cx="1171194" cy="1171194"/>
            <a:chOff x="0" y="0"/>
            <a:chExt cx="1561592" cy="15615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61592" cy="1561592"/>
            </a:xfrm>
            <a:custGeom>
              <a:avLst/>
              <a:gdLst/>
              <a:ahLst/>
              <a:cxnLst/>
              <a:rect r="r" b="b" t="t" l="l"/>
              <a:pathLst>
                <a:path h="1561592" w="1561592">
                  <a:moveTo>
                    <a:pt x="0" y="780796"/>
                  </a:moveTo>
                  <a:cubicBezTo>
                    <a:pt x="0" y="349631"/>
                    <a:pt x="349631" y="0"/>
                    <a:pt x="780796" y="0"/>
                  </a:cubicBezTo>
                  <a:cubicBezTo>
                    <a:pt x="1211961" y="0"/>
                    <a:pt x="1561592" y="349631"/>
                    <a:pt x="1561592" y="780796"/>
                  </a:cubicBezTo>
                  <a:cubicBezTo>
                    <a:pt x="1561592" y="1211961"/>
                    <a:pt x="1211961" y="1561592"/>
                    <a:pt x="780796" y="1561592"/>
                  </a:cubicBezTo>
                  <a:cubicBezTo>
                    <a:pt x="349631" y="1561592"/>
                    <a:pt x="0" y="1211961"/>
                    <a:pt x="0" y="780796"/>
                  </a:cubicBezTo>
                  <a:close/>
                </a:path>
              </a:pathLst>
            </a:custGeom>
            <a:solidFill>
              <a:srgbClr val="22D3EE"/>
            </a:solidFill>
            <a:ln w="19050" cap="sq">
              <a:solidFill>
                <a:srgbClr val="22D3EE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134037" y="1298629"/>
            <a:ext cx="529990" cy="529990"/>
            <a:chOff x="0" y="0"/>
            <a:chExt cx="706653" cy="706653"/>
          </a:xfrm>
        </p:grpSpPr>
        <p:sp>
          <p:nvSpPr>
            <p:cNvPr name="Freeform 6" id="6" descr="FaChartLine"/>
            <p:cNvSpPr/>
            <p:nvPr/>
          </p:nvSpPr>
          <p:spPr>
            <a:xfrm flipH="false" flipV="false" rot="0">
              <a:off x="0" y="0"/>
              <a:ext cx="706628" cy="706628"/>
            </a:xfrm>
            <a:custGeom>
              <a:avLst/>
              <a:gdLst/>
              <a:ahLst/>
              <a:cxnLst/>
              <a:rect r="r" b="b" t="t" l="l"/>
              <a:pathLst>
                <a:path h="706628" w="706628">
                  <a:moveTo>
                    <a:pt x="0" y="0"/>
                  </a:moveTo>
                  <a:lnTo>
                    <a:pt x="706628" y="0"/>
                  </a:lnTo>
                  <a:lnTo>
                    <a:pt x="706628" y="706628"/>
                  </a:lnTo>
                  <a:lnTo>
                    <a:pt x="0" y="7066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3" b="-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2331720" y="1014984"/>
            <a:ext cx="14950440" cy="1097280"/>
            <a:chOff x="0" y="0"/>
            <a:chExt cx="1993392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9339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9933920">
                  <a:moveTo>
                    <a:pt x="0" y="0"/>
                  </a:moveTo>
                  <a:lnTo>
                    <a:pt x="19933920" y="0"/>
                  </a:lnTo>
                  <a:lnTo>
                    <a:pt x="199339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5483" r="0" b="-21548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993392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Impact &amp; Scalability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15816" y="2530316"/>
            <a:ext cx="5267516" cy="2688908"/>
            <a:chOff x="0" y="0"/>
            <a:chExt cx="7023354" cy="358521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23354" cy="3585210"/>
            </a:xfrm>
            <a:custGeom>
              <a:avLst/>
              <a:gdLst/>
              <a:ahLst/>
              <a:cxnLst/>
              <a:rect r="r" b="b" t="t" l="l"/>
              <a:pathLst>
                <a:path h="3585210" w="7023354">
                  <a:moveTo>
                    <a:pt x="0" y="220599"/>
                  </a:moveTo>
                  <a:cubicBezTo>
                    <a:pt x="0" y="98806"/>
                    <a:pt x="98806" y="0"/>
                    <a:pt x="220599" y="0"/>
                  </a:cubicBezTo>
                  <a:lnTo>
                    <a:pt x="6802755" y="0"/>
                  </a:lnTo>
                  <a:cubicBezTo>
                    <a:pt x="6924549" y="0"/>
                    <a:pt x="7023354" y="98806"/>
                    <a:pt x="7023354" y="220599"/>
                  </a:cubicBezTo>
                  <a:lnTo>
                    <a:pt x="7023354" y="3364611"/>
                  </a:lnTo>
                  <a:cubicBezTo>
                    <a:pt x="7023354" y="3486404"/>
                    <a:pt x="6924549" y="3585210"/>
                    <a:pt x="6802755" y="3585210"/>
                  </a:cubicBezTo>
                  <a:lnTo>
                    <a:pt x="220599" y="3585210"/>
                  </a:lnTo>
                  <a:cubicBezTo>
                    <a:pt x="98806" y="3585210"/>
                    <a:pt x="0" y="3486404"/>
                    <a:pt x="0" y="3364611"/>
                  </a:cubicBezTo>
                  <a:close/>
                </a:path>
              </a:pathLst>
            </a:custGeom>
            <a:solidFill>
              <a:srgbClr val="151C4F"/>
            </a:solidFill>
            <a:ln w="14288" cap="sq">
              <a:solidFill>
                <a:srgbClr val="22D3EE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813435" y="2825115"/>
            <a:ext cx="5253228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60"/>
              </a:lnSpc>
            </a:pPr>
            <a:r>
              <a:rPr lang="en-US" sz="5800" b="true">
                <a:solidFill>
                  <a:srgbClr val="22D3EE"/>
                </a:solidFill>
                <a:latin typeface="Cambria Bold"/>
                <a:ea typeface="Cambria Bold"/>
                <a:cs typeface="Cambria Bold"/>
                <a:sym typeface="Cambria Bold"/>
              </a:rPr>
              <a:t>10 hrs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34440" y="3930015"/>
            <a:ext cx="4430268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>
                <a:solidFill>
                  <a:srgbClr val="C9D3FF"/>
                </a:solidFill>
                <a:latin typeface="Calibri (MS)"/>
                <a:ea typeface="Calibri (MS)"/>
                <a:cs typeface="Calibri (MS)"/>
                <a:sym typeface="Calibri (MS)"/>
              </a:rPr>
              <a:t>unplanned downtime avoided per line a year (our assumption)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924675" y="2530316"/>
            <a:ext cx="4667402" cy="2688908"/>
            <a:chOff x="0" y="0"/>
            <a:chExt cx="6223203" cy="35852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223203" cy="3585210"/>
            </a:xfrm>
            <a:custGeom>
              <a:avLst/>
              <a:gdLst/>
              <a:ahLst/>
              <a:cxnLst/>
              <a:rect r="r" b="b" t="t" l="l"/>
              <a:pathLst>
                <a:path h="3585210" w="6223203">
                  <a:moveTo>
                    <a:pt x="0" y="220599"/>
                  </a:moveTo>
                  <a:cubicBezTo>
                    <a:pt x="0" y="98806"/>
                    <a:pt x="87549" y="0"/>
                    <a:pt x="195467" y="0"/>
                  </a:cubicBezTo>
                  <a:lnTo>
                    <a:pt x="6027737" y="0"/>
                  </a:lnTo>
                  <a:cubicBezTo>
                    <a:pt x="6135655" y="0"/>
                    <a:pt x="6223203" y="98806"/>
                    <a:pt x="6223203" y="220599"/>
                  </a:cubicBezTo>
                  <a:lnTo>
                    <a:pt x="6223203" y="3364611"/>
                  </a:lnTo>
                  <a:cubicBezTo>
                    <a:pt x="6223203" y="3486404"/>
                    <a:pt x="6135655" y="3585210"/>
                    <a:pt x="6027737" y="3585210"/>
                  </a:cubicBezTo>
                  <a:lnTo>
                    <a:pt x="195467" y="3585210"/>
                  </a:lnTo>
                  <a:cubicBezTo>
                    <a:pt x="87549" y="3585210"/>
                    <a:pt x="0" y="3486404"/>
                    <a:pt x="0" y="3364611"/>
                  </a:cubicBezTo>
                  <a:close/>
                </a:path>
              </a:pathLst>
            </a:custGeom>
            <a:solidFill>
              <a:srgbClr val="151C4F"/>
            </a:solidFill>
            <a:ln w="14288" cap="sq">
              <a:solidFill>
                <a:srgbClr val="22D3EE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6338849" y="2825115"/>
            <a:ext cx="5253228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60"/>
              </a:lnSpc>
            </a:pPr>
            <a:r>
              <a:rPr lang="en-US" sz="5800" b="true">
                <a:solidFill>
                  <a:srgbClr val="22D3EE"/>
                </a:solidFill>
                <a:latin typeface="Cambria Bold"/>
                <a:ea typeface="Cambria Bold"/>
                <a:cs typeface="Cambria Bold"/>
                <a:sym typeface="Cambria Bold"/>
              </a:rPr>
              <a:t>₹12.1M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926580" y="3930015"/>
            <a:ext cx="4430268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>
                <a:solidFill>
                  <a:srgbClr val="C9D3FF"/>
                </a:solidFill>
                <a:latin typeface="Calibri (MS)"/>
                <a:ea typeface="Calibri (MS)"/>
                <a:cs typeface="Calibri (MS)"/>
                <a:sym typeface="Calibri (MS)"/>
              </a:rPr>
              <a:t>average cost of one downtime hour (ABB, Value of Reliability)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200096" y="2530316"/>
            <a:ext cx="5267516" cy="2688908"/>
            <a:chOff x="0" y="0"/>
            <a:chExt cx="7023354" cy="35852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23354" cy="3585210"/>
            </a:xfrm>
            <a:custGeom>
              <a:avLst/>
              <a:gdLst/>
              <a:ahLst/>
              <a:cxnLst/>
              <a:rect r="r" b="b" t="t" l="l"/>
              <a:pathLst>
                <a:path h="3585210" w="7023354">
                  <a:moveTo>
                    <a:pt x="0" y="220599"/>
                  </a:moveTo>
                  <a:cubicBezTo>
                    <a:pt x="0" y="98806"/>
                    <a:pt x="98806" y="0"/>
                    <a:pt x="220599" y="0"/>
                  </a:cubicBezTo>
                  <a:lnTo>
                    <a:pt x="6802755" y="0"/>
                  </a:lnTo>
                  <a:cubicBezTo>
                    <a:pt x="6924549" y="0"/>
                    <a:pt x="7023354" y="98806"/>
                    <a:pt x="7023354" y="220599"/>
                  </a:cubicBezTo>
                  <a:lnTo>
                    <a:pt x="7023354" y="3364611"/>
                  </a:lnTo>
                  <a:cubicBezTo>
                    <a:pt x="7023354" y="3486404"/>
                    <a:pt x="6924549" y="3585210"/>
                    <a:pt x="6802755" y="3585210"/>
                  </a:cubicBezTo>
                  <a:lnTo>
                    <a:pt x="220599" y="3585210"/>
                  </a:lnTo>
                  <a:cubicBezTo>
                    <a:pt x="98806" y="3585210"/>
                    <a:pt x="0" y="3486404"/>
                    <a:pt x="0" y="3364611"/>
                  </a:cubicBezTo>
                  <a:close/>
                </a:path>
              </a:pathLst>
            </a:custGeom>
            <a:solidFill>
              <a:srgbClr val="22D3EE"/>
            </a:solidFill>
            <a:ln w="14288" cap="sq">
              <a:solidFill>
                <a:srgbClr val="22D3EE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2495076" y="2872740"/>
            <a:ext cx="4677556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60"/>
              </a:lnSpc>
            </a:pPr>
            <a:r>
              <a:rPr lang="en-US" sz="5800" b="true">
                <a:solidFill>
                  <a:srgbClr val="0A0F2C"/>
                </a:solidFill>
                <a:latin typeface="Cambria Bold"/>
                <a:ea typeface="Cambria Bold"/>
                <a:cs typeface="Cambria Bold"/>
                <a:sym typeface="Cambria Bold"/>
              </a:rPr>
              <a:t>₹121.08M.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618720" y="3930015"/>
            <a:ext cx="443026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>
                <a:solidFill>
                  <a:srgbClr val="0A0F2C"/>
                </a:solidFill>
                <a:latin typeface="Calibri (MS)"/>
                <a:ea typeface="Calibri (MS)"/>
                <a:cs typeface="Calibri (MS)"/>
                <a:sym typeface="Calibri (MS)"/>
              </a:rPr>
              <a:t>saved per production line, every year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284547" y="2956560"/>
            <a:ext cx="438912" cy="9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b="true">
                <a:solidFill>
                  <a:srgbClr val="22D3E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×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676631" y="2956560"/>
            <a:ext cx="438912" cy="9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b="true">
                <a:solidFill>
                  <a:srgbClr val="22D3E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=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13861" y="6066949"/>
            <a:ext cx="10208895" cy="2399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8524" indent="-234262" lvl="1">
              <a:lnSpc>
                <a:spcPts val="3106"/>
              </a:lnSpc>
              <a:buFont typeface="Arial"/>
              <a:buChar char="•"/>
            </a:pPr>
            <a:r>
              <a:rPr lang="en-US" b="true" sz="2588">
                <a:solidFill>
                  <a:srgbClr val="22D3E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Reach:</a:t>
            </a:r>
            <a:r>
              <a:rPr lang="en-US" sz="2588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any plant with machine sensor logs, starting with MSME manufacturers</a:t>
            </a:r>
          </a:p>
          <a:p>
            <a:pPr algn="l" marL="468524" indent="-234262" lvl="1">
              <a:lnSpc>
                <a:spcPts val="3106"/>
              </a:lnSpc>
              <a:buFont typeface="Arial"/>
              <a:buChar char="•"/>
            </a:pPr>
            <a:r>
              <a:rPr lang="en-US" b="true" sz="2588">
                <a:solidFill>
                  <a:srgbClr val="22D3E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Scale:</a:t>
            </a:r>
            <a:r>
              <a:rPr lang="en-US" sz="2588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stateless Node API and ML service scale out independently</a:t>
            </a:r>
          </a:p>
          <a:p>
            <a:pPr algn="l" marL="468524" indent="-234262" lvl="1">
              <a:lnSpc>
                <a:spcPts val="3106"/>
              </a:lnSpc>
              <a:buFont typeface="Arial"/>
              <a:buChar char="•"/>
            </a:pPr>
            <a:r>
              <a:rPr lang="en-US" b="true" sz="2588">
                <a:solidFill>
                  <a:srgbClr val="22D3E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Impact:</a:t>
            </a:r>
            <a:r>
              <a:rPr lang="en-US" sz="2588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less scrap, wasted energy and safety risk from sudden breakdowns</a:t>
            </a:r>
          </a:p>
          <a:p>
            <a:pPr algn="l" marL="468524" indent="-234262" lvl="1">
              <a:lnSpc>
                <a:spcPts val="3106"/>
              </a:lnSpc>
              <a:buFont typeface="Arial"/>
              <a:buChar char="•"/>
            </a:pPr>
            <a:r>
              <a:rPr lang="en-US" b="true" sz="2588">
                <a:solidFill>
                  <a:srgbClr val="22D3E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Honest note:</a:t>
            </a:r>
            <a:r>
              <a:rPr lang="en-US" sz="2588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10 hours is illustrative; a pilot will validate it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622756" y="5616416"/>
            <a:ext cx="6844856" cy="3786188"/>
            <a:chOff x="0" y="0"/>
            <a:chExt cx="9126474" cy="50482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126474" cy="5048250"/>
            </a:xfrm>
            <a:custGeom>
              <a:avLst/>
              <a:gdLst/>
              <a:ahLst/>
              <a:cxnLst/>
              <a:rect r="r" b="b" t="t" l="l"/>
              <a:pathLst>
                <a:path h="5048250" w="9126474">
                  <a:moveTo>
                    <a:pt x="0" y="220345"/>
                  </a:moveTo>
                  <a:cubicBezTo>
                    <a:pt x="0" y="98679"/>
                    <a:pt x="98679" y="0"/>
                    <a:pt x="220345" y="0"/>
                  </a:cubicBezTo>
                  <a:lnTo>
                    <a:pt x="8906129" y="0"/>
                  </a:lnTo>
                  <a:cubicBezTo>
                    <a:pt x="9027795" y="0"/>
                    <a:pt x="9126474" y="98679"/>
                    <a:pt x="9126474" y="220345"/>
                  </a:cubicBezTo>
                  <a:lnTo>
                    <a:pt x="9126474" y="4827905"/>
                  </a:lnTo>
                  <a:cubicBezTo>
                    <a:pt x="9126474" y="4949571"/>
                    <a:pt x="9027795" y="5048250"/>
                    <a:pt x="8906129" y="5048250"/>
                  </a:cubicBezTo>
                  <a:lnTo>
                    <a:pt x="220345" y="5048250"/>
                  </a:lnTo>
                  <a:cubicBezTo>
                    <a:pt x="98679" y="5048250"/>
                    <a:pt x="0" y="4949571"/>
                    <a:pt x="0" y="4827905"/>
                  </a:cubicBezTo>
                  <a:close/>
                </a:path>
              </a:pathLst>
            </a:custGeom>
            <a:solidFill>
              <a:srgbClr val="151C4F"/>
            </a:solidFill>
            <a:ln w="14288" cap="sq">
              <a:solidFill>
                <a:srgbClr val="2C3680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1041380" y="5750052"/>
            <a:ext cx="603504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450">
                <a:solidFill>
                  <a:srgbClr val="22D3E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BUSINESS MODEL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1031855" y="6327267"/>
            <a:ext cx="773430" cy="773430"/>
            <a:chOff x="0" y="0"/>
            <a:chExt cx="1031240" cy="10312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31240" cy="1031240"/>
            </a:xfrm>
            <a:custGeom>
              <a:avLst/>
              <a:gdLst/>
              <a:ahLst/>
              <a:cxnLst/>
              <a:rect r="r" b="b" t="t" l="l"/>
              <a:pathLst>
                <a:path h="1031240" w="103124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cubicBezTo>
                    <a:pt x="800354" y="0"/>
                    <a:pt x="1031240" y="230886"/>
                    <a:pt x="1031240" y="515620"/>
                  </a:cubicBezTo>
                  <a:cubicBezTo>
                    <a:pt x="1031240" y="800354"/>
                    <a:pt x="800354" y="1031240"/>
                    <a:pt x="515620" y="1031240"/>
                  </a:cubicBez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22D3EE"/>
            </a:solidFill>
            <a:ln w="19050" cap="sq">
              <a:solidFill>
                <a:srgbClr val="22D3EE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1245063" y="6540475"/>
            <a:ext cx="347015" cy="347015"/>
            <a:chOff x="0" y="0"/>
            <a:chExt cx="462686" cy="462686"/>
          </a:xfrm>
        </p:grpSpPr>
        <p:sp>
          <p:nvSpPr>
            <p:cNvPr name="Freeform 31" id="31" descr="FaIndustry"/>
            <p:cNvSpPr/>
            <p:nvPr/>
          </p:nvSpPr>
          <p:spPr>
            <a:xfrm flipH="false" flipV="false" rot="0">
              <a:off x="0" y="0"/>
              <a:ext cx="462661" cy="462661"/>
            </a:xfrm>
            <a:custGeom>
              <a:avLst/>
              <a:gdLst/>
              <a:ahLst/>
              <a:cxnLst/>
              <a:rect r="r" b="b" t="t" l="l"/>
              <a:pathLst>
                <a:path h="462661" w="462661">
                  <a:moveTo>
                    <a:pt x="0" y="0"/>
                  </a:moveTo>
                  <a:lnTo>
                    <a:pt x="462661" y="0"/>
                  </a:lnTo>
                  <a:lnTo>
                    <a:pt x="462661" y="462661"/>
                  </a:lnTo>
                  <a:lnTo>
                    <a:pt x="0" y="462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5" b="-5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2070080" y="6271260"/>
            <a:ext cx="5074920" cy="42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2D3E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Customer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070080" y="6608826"/>
            <a:ext cx="5074920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Plant and maintenance heads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1031855" y="7314819"/>
            <a:ext cx="773430" cy="773430"/>
            <a:chOff x="0" y="0"/>
            <a:chExt cx="1031240" cy="10312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31240" cy="1031240"/>
            </a:xfrm>
            <a:custGeom>
              <a:avLst/>
              <a:gdLst/>
              <a:ahLst/>
              <a:cxnLst/>
              <a:rect r="r" b="b" t="t" l="l"/>
              <a:pathLst>
                <a:path h="1031240" w="103124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cubicBezTo>
                    <a:pt x="800354" y="0"/>
                    <a:pt x="1031240" y="230886"/>
                    <a:pt x="1031240" y="515620"/>
                  </a:cubicBezTo>
                  <a:cubicBezTo>
                    <a:pt x="1031240" y="800354"/>
                    <a:pt x="800354" y="1031240"/>
                    <a:pt x="515620" y="1031240"/>
                  </a:cubicBez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22D3EE"/>
            </a:solidFill>
            <a:ln w="19050" cap="sq">
              <a:solidFill>
                <a:srgbClr val="22D3EE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1245063" y="7528027"/>
            <a:ext cx="347015" cy="347015"/>
            <a:chOff x="0" y="0"/>
            <a:chExt cx="462686" cy="462686"/>
          </a:xfrm>
        </p:grpSpPr>
        <p:sp>
          <p:nvSpPr>
            <p:cNvPr name="Freeform 37" id="37" descr="FaCloud"/>
            <p:cNvSpPr/>
            <p:nvPr/>
          </p:nvSpPr>
          <p:spPr>
            <a:xfrm flipH="false" flipV="false" rot="0">
              <a:off x="0" y="0"/>
              <a:ext cx="462661" cy="462661"/>
            </a:xfrm>
            <a:custGeom>
              <a:avLst/>
              <a:gdLst/>
              <a:ahLst/>
              <a:cxnLst/>
              <a:rect r="r" b="b" t="t" l="l"/>
              <a:pathLst>
                <a:path h="462661" w="462661">
                  <a:moveTo>
                    <a:pt x="0" y="0"/>
                  </a:moveTo>
                  <a:lnTo>
                    <a:pt x="462661" y="0"/>
                  </a:lnTo>
                  <a:lnTo>
                    <a:pt x="462661" y="462661"/>
                  </a:lnTo>
                  <a:lnTo>
                    <a:pt x="0" y="462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5" b="-5"/>
              </a:stretch>
            </a:blip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2070080" y="7258812"/>
            <a:ext cx="5074920" cy="42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2D3E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Revenue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070080" y="7596378"/>
            <a:ext cx="5074920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Per-machine monthly SaaS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1031855" y="8302371"/>
            <a:ext cx="773430" cy="773430"/>
            <a:chOff x="0" y="0"/>
            <a:chExt cx="1031240" cy="10312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31240" cy="1031240"/>
            </a:xfrm>
            <a:custGeom>
              <a:avLst/>
              <a:gdLst/>
              <a:ahLst/>
              <a:cxnLst/>
              <a:rect r="r" b="b" t="t" l="l"/>
              <a:pathLst>
                <a:path h="1031240" w="103124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cubicBezTo>
                    <a:pt x="800354" y="0"/>
                    <a:pt x="1031240" y="230886"/>
                    <a:pt x="1031240" y="515620"/>
                  </a:cubicBezTo>
                  <a:cubicBezTo>
                    <a:pt x="1031240" y="800354"/>
                    <a:pt x="800354" y="1031240"/>
                    <a:pt x="515620" y="1031240"/>
                  </a:cubicBez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22D3EE"/>
            </a:solidFill>
            <a:ln w="19050" cap="sq">
              <a:solidFill>
                <a:srgbClr val="22D3EE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1245063" y="8515579"/>
            <a:ext cx="347015" cy="347015"/>
            <a:chOff x="0" y="0"/>
            <a:chExt cx="462686" cy="462686"/>
          </a:xfrm>
        </p:grpSpPr>
        <p:sp>
          <p:nvSpPr>
            <p:cNvPr name="Freeform 43" id="43" descr="FaHandshake"/>
            <p:cNvSpPr/>
            <p:nvPr/>
          </p:nvSpPr>
          <p:spPr>
            <a:xfrm flipH="false" flipV="false" rot="0">
              <a:off x="0" y="0"/>
              <a:ext cx="462661" cy="462661"/>
            </a:xfrm>
            <a:custGeom>
              <a:avLst/>
              <a:gdLst/>
              <a:ahLst/>
              <a:cxnLst/>
              <a:rect r="r" b="b" t="t" l="l"/>
              <a:pathLst>
                <a:path h="462661" w="462661">
                  <a:moveTo>
                    <a:pt x="0" y="0"/>
                  </a:moveTo>
                  <a:lnTo>
                    <a:pt x="462661" y="0"/>
                  </a:lnTo>
                  <a:lnTo>
                    <a:pt x="462661" y="462661"/>
                  </a:lnTo>
                  <a:lnTo>
                    <a:pt x="0" y="462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5" b="-5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12070080" y="8246364"/>
            <a:ext cx="5074920" cy="42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2D3E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Channel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070080" y="8583930"/>
            <a:ext cx="5074920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Pilots with MSME clusters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13435" y="978027"/>
            <a:ext cx="1171194" cy="1171194"/>
            <a:chOff x="0" y="0"/>
            <a:chExt cx="1561592" cy="15615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61592" cy="1561592"/>
            </a:xfrm>
            <a:custGeom>
              <a:avLst/>
              <a:gdLst/>
              <a:ahLst/>
              <a:cxnLst/>
              <a:rect r="r" b="b" t="t" l="l"/>
              <a:pathLst>
                <a:path h="1561592" w="1561592">
                  <a:moveTo>
                    <a:pt x="0" y="780796"/>
                  </a:moveTo>
                  <a:cubicBezTo>
                    <a:pt x="0" y="349631"/>
                    <a:pt x="349631" y="0"/>
                    <a:pt x="780796" y="0"/>
                  </a:cubicBezTo>
                  <a:cubicBezTo>
                    <a:pt x="1211961" y="0"/>
                    <a:pt x="1561592" y="349631"/>
                    <a:pt x="1561592" y="780796"/>
                  </a:cubicBezTo>
                  <a:cubicBezTo>
                    <a:pt x="1561592" y="1211961"/>
                    <a:pt x="1211961" y="1561592"/>
                    <a:pt x="780796" y="1561592"/>
                  </a:cubicBezTo>
                  <a:cubicBezTo>
                    <a:pt x="349631" y="1561592"/>
                    <a:pt x="0" y="1211961"/>
                    <a:pt x="0" y="780796"/>
                  </a:cubicBezTo>
                  <a:close/>
                </a:path>
              </a:pathLst>
            </a:custGeom>
            <a:solidFill>
              <a:srgbClr val="22D3EE"/>
            </a:solidFill>
            <a:ln w="19050" cap="sq">
              <a:solidFill>
                <a:srgbClr val="22D3EE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134037" y="1298629"/>
            <a:ext cx="529990" cy="529990"/>
            <a:chOff x="0" y="0"/>
            <a:chExt cx="706653" cy="706653"/>
          </a:xfrm>
        </p:grpSpPr>
        <p:sp>
          <p:nvSpPr>
            <p:cNvPr name="Freeform 6" id="6" descr="FaFlag"/>
            <p:cNvSpPr/>
            <p:nvPr/>
          </p:nvSpPr>
          <p:spPr>
            <a:xfrm flipH="false" flipV="false" rot="0">
              <a:off x="0" y="0"/>
              <a:ext cx="706628" cy="706628"/>
            </a:xfrm>
            <a:custGeom>
              <a:avLst/>
              <a:gdLst/>
              <a:ahLst/>
              <a:cxnLst/>
              <a:rect r="r" b="b" t="t" l="l"/>
              <a:pathLst>
                <a:path h="706628" w="706628">
                  <a:moveTo>
                    <a:pt x="0" y="0"/>
                  </a:moveTo>
                  <a:lnTo>
                    <a:pt x="706628" y="0"/>
                  </a:lnTo>
                  <a:lnTo>
                    <a:pt x="706628" y="706628"/>
                  </a:lnTo>
                  <a:lnTo>
                    <a:pt x="0" y="7066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3" b="-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2331720" y="1014984"/>
            <a:ext cx="14950440" cy="1097280"/>
            <a:chOff x="0" y="0"/>
            <a:chExt cx="1993392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9339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9933920">
                  <a:moveTo>
                    <a:pt x="0" y="0"/>
                  </a:moveTo>
                  <a:lnTo>
                    <a:pt x="19933920" y="0"/>
                  </a:lnTo>
                  <a:lnTo>
                    <a:pt x="199339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5483" r="0" b="-21548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993392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Challenges &amp; Learnings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15816" y="2530316"/>
            <a:ext cx="10164128" cy="3031808"/>
            <a:chOff x="0" y="0"/>
            <a:chExt cx="13552170" cy="404241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552170" cy="4042410"/>
            </a:xfrm>
            <a:custGeom>
              <a:avLst/>
              <a:gdLst/>
              <a:ahLst/>
              <a:cxnLst/>
              <a:rect r="r" b="b" t="t" l="l"/>
              <a:pathLst>
                <a:path h="4042410" w="13552170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13331698" y="0"/>
                  </a:lnTo>
                  <a:cubicBezTo>
                    <a:pt x="13453490" y="0"/>
                    <a:pt x="13552170" y="98679"/>
                    <a:pt x="13552170" y="220472"/>
                  </a:cubicBezTo>
                  <a:lnTo>
                    <a:pt x="13552170" y="3821938"/>
                  </a:lnTo>
                  <a:cubicBezTo>
                    <a:pt x="13552170" y="3943731"/>
                    <a:pt x="13453490" y="4042410"/>
                    <a:pt x="13331698" y="4042410"/>
                  </a:cubicBezTo>
                  <a:lnTo>
                    <a:pt x="220472" y="4042410"/>
                  </a:lnTo>
                  <a:cubicBezTo>
                    <a:pt x="98679" y="4042410"/>
                    <a:pt x="0" y="3943731"/>
                    <a:pt x="0" y="3821938"/>
                  </a:cubicBezTo>
                  <a:close/>
                </a:path>
              </a:pathLst>
            </a:custGeom>
            <a:solidFill>
              <a:srgbClr val="151C4F"/>
            </a:solidFill>
            <a:ln w="14288" cap="sq">
              <a:solidFill>
                <a:srgbClr val="2C3680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234440" y="2663952"/>
            <a:ext cx="932688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45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CHALLENGE 1 · SILENT AND LOUD ML BUGS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34440" y="3166110"/>
            <a:ext cx="9464040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b="true" sz="225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Symptom:</a:t>
            </a:r>
            <a:r>
              <a:rPr lang="en-US" sz="22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500 errors, and lowercase machine types gave silently wrong scores</a:t>
            </a:r>
          </a:p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b="true" sz="225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Fix:</a:t>
            </a:r>
            <a:r>
              <a:rPr lang="en-US" sz="22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validate and coerce every input, return clear 400 errors</a:t>
            </a:r>
          </a:p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b="true" sz="225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Safety net:</a:t>
            </a:r>
            <a:r>
              <a:rPr lang="en-US" sz="22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23 regression tests cover each failure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15816" y="5753576"/>
            <a:ext cx="10164128" cy="2757488"/>
            <a:chOff x="0" y="0"/>
            <a:chExt cx="13552170" cy="36766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552170" cy="3676650"/>
            </a:xfrm>
            <a:custGeom>
              <a:avLst/>
              <a:gdLst/>
              <a:ahLst/>
              <a:cxnLst/>
              <a:rect r="r" b="b" t="t" l="l"/>
              <a:pathLst>
                <a:path h="3676650" w="13552170">
                  <a:moveTo>
                    <a:pt x="0" y="220599"/>
                  </a:moveTo>
                  <a:cubicBezTo>
                    <a:pt x="0" y="98806"/>
                    <a:pt x="98806" y="0"/>
                    <a:pt x="220599" y="0"/>
                  </a:cubicBezTo>
                  <a:lnTo>
                    <a:pt x="13331571" y="0"/>
                  </a:lnTo>
                  <a:cubicBezTo>
                    <a:pt x="13453363" y="0"/>
                    <a:pt x="13552170" y="98806"/>
                    <a:pt x="13552170" y="220599"/>
                  </a:cubicBezTo>
                  <a:lnTo>
                    <a:pt x="13552170" y="3456051"/>
                  </a:lnTo>
                  <a:cubicBezTo>
                    <a:pt x="13552170" y="3577844"/>
                    <a:pt x="13453363" y="3676650"/>
                    <a:pt x="13331571" y="3676650"/>
                  </a:cubicBezTo>
                  <a:lnTo>
                    <a:pt x="220599" y="3676650"/>
                  </a:lnTo>
                  <a:cubicBezTo>
                    <a:pt x="98806" y="3676650"/>
                    <a:pt x="0" y="3577844"/>
                    <a:pt x="0" y="3456051"/>
                  </a:cubicBezTo>
                  <a:close/>
                </a:path>
              </a:pathLst>
            </a:custGeom>
            <a:solidFill>
              <a:srgbClr val="151C4F"/>
            </a:solidFill>
            <a:ln w="14288" cap="sq">
              <a:solidFill>
                <a:srgbClr val="2C3680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234440" y="5887212"/>
            <a:ext cx="932688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45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CHALLENGE 2 · SCALE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34440" y="6389370"/>
            <a:ext cx="9464040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b="true" sz="225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Symptom:</a:t>
            </a:r>
            <a:r>
              <a:rPr lang="en-US" sz="22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2 HTTP calls per reading made big uploads crawl</a:t>
            </a:r>
          </a:p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b="true" sz="225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Pivot:</a:t>
            </a:r>
            <a:r>
              <a:rPr lang="en-US" sz="22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batch endpoints, bulk inserts, chunks of 250</a:t>
            </a:r>
          </a:p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b="true" sz="225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Result:</a:t>
            </a:r>
            <a:r>
              <a:rPr lang="en-US" sz="22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10,000 readings scored in about 74 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239976" y="2530316"/>
            <a:ext cx="6227636" cy="3031808"/>
            <a:chOff x="0" y="0"/>
            <a:chExt cx="8303514" cy="40424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303514" cy="4042410"/>
            </a:xfrm>
            <a:custGeom>
              <a:avLst/>
              <a:gdLst/>
              <a:ahLst/>
              <a:cxnLst/>
              <a:rect r="r" b="b" t="t" l="l"/>
              <a:pathLst>
                <a:path h="4042410" w="8303514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8083042" y="0"/>
                  </a:lnTo>
                  <a:cubicBezTo>
                    <a:pt x="8204836" y="0"/>
                    <a:pt x="8303514" y="98679"/>
                    <a:pt x="8303514" y="220472"/>
                  </a:cubicBezTo>
                  <a:lnTo>
                    <a:pt x="8303514" y="3821938"/>
                  </a:lnTo>
                  <a:cubicBezTo>
                    <a:pt x="8303514" y="3943731"/>
                    <a:pt x="8204836" y="4042410"/>
                    <a:pt x="8083042" y="4042410"/>
                  </a:cubicBezTo>
                  <a:lnTo>
                    <a:pt x="220472" y="4042410"/>
                  </a:lnTo>
                  <a:cubicBezTo>
                    <a:pt x="98679" y="4042410"/>
                    <a:pt x="0" y="3943731"/>
                    <a:pt x="0" y="3821938"/>
                  </a:cubicBezTo>
                  <a:close/>
                </a:path>
              </a:pathLst>
            </a:custGeom>
            <a:solidFill>
              <a:srgbClr val="151C4F"/>
            </a:solidFill>
            <a:ln w="14288" cap="sq">
              <a:solidFill>
                <a:srgbClr val="2C3680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1247120" y="2665095"/>
            <a:ext cx="6213348" cy="832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39"/>
              </a:lnSpc>
            </a:pPr>
            <a:r>
              <a:rPr lang="en-US" b="true" sz="5700">
                <a:solidFill>
                  <a:srgbClr val="22D3EE"/>
                </a:solidFill>
                <a:latin typeface="Cambria Bold"/>
                <a:ea typeface="Cambria Bold"/>
                <a:cs typeface="Cambria Bold"/>
                <a:sym typeface="Cambria Bold"/>
              </a:rPr>
              <a:t>≈20,000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4100048" y="3634740"/>
            <a:ext cx="493776" cy="493776"/>
            <a:chOff x="0" y="0"/>
            <a:chExt cx="658368" cy="658368"/>
          </a:xfrm>
        </p:grpSpPr>
        <p:sp>
          <p:nvSpPr>
            <p:cNvPr name="Freeform 22" id="22" descr="to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1247120" y="4173855"/>
            <a:ext cx="6213348" cy="832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39"/>
              </a:lnSpc>
            </a:pPr>
            <a:r>
              <a:rPr lang="en-US" b="true" sz="5700">
                <a:solidFill>
                  <a:srgbClr val="22D3EE"/>
                </a:solidFill>
                <a:latin typeface="Cambria Bold"/>
                <a:ea typeface="Cambria Bold"/>
                <a:cs typeface="Cambria Bold"/>
                <a:sym typeface="Cambria Bold"/>
              </a:rPr>
              <a:t>≈80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247120" y="4958715"/>
            <a:ext cx="6213348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>
                <a:solidFill>
                  <a:srgbClr val="C9D3FF"/>
                </a:solidFill>
                <a:latin typeface="Calibri (MS)"/>
                <a:ea typeface="Calibri (MS)"/>
                <a:cs typeface="Calibri (MS)"/>
                <a:sym typeface="Calibri (MS)"/>
              </a:rPr>
              <a:t>round-trips for 10,000 readings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239976" y="5753576"/>
            <a:ext cx="6227636" cy="2757488"/>
            <a:chOff x="0" y="0"/>
            <a:chExt cx="8303514" cy="36766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303514" cy="3676650"/>
            </a:xfrm>
            <a:custGeom>
              <a:avLst/>
              <a:gdLst/>
              <a:ahLst/>
              <a:cxnLst/>
              <a:rect r="r" b="b" t="t" l="l"/>
              <a:pathLst>
                <a:path h="3676650" w="8303514">
                  <a:moveTo>
                    <a:pt x="0" y="220599"/>
                  </a:moveTo>
                  <a:cubicBezTo>
                    <a:pt x="0" y="98806"/>
                    <a:pt x="98806" y="0"/>
                    <a:pt x="220599" y="0"/>
                  </a:cubicBezTo>
                  <a:lnTo>
                    <a:pt x="8082915" y="0"/>
                  </a:lnTo>
                  <a:cubicBezTo>
                    <a:pt x="8204708" y="0"/>
                    <a:pt x="8303514" y="98806"/>
                    <a:pt x="8303514" y="220599"/>
                  </a:cubicBezTo>
                  <a:lnTo>
                    <a:pt x="8303514" y="3456051"/>
                  </a:lnTo>
                  <a:cubicBezTo>
                    <a:pt x="8303514" y="3577844"/>
                    <a:pt x="8204708" y="3676650"/>
                    <a:pt x="8082915" y="3676650"/>
                  </a:cubicBezTo>
                  <a:lnTo>
                    <a:pt x="220599" y="3676650"/>
                  </a:lnTo>
                  <a:cubicBezTo>
                    <a:pt x="98806" y="3676650"/>
                    <a:pt x="0" y="3577844"/>
                    <a:pt x="0" y="3456051"/>
                  </a:cubicBezTo>
                  <a:close/>
                </a:path>
              </a:pathLst>
            </a:custGeom>
            <a:solidFill>
              <a:srgbClr val="151C4F"/>
            </a:solidFill>
            <a:ln w="14288" cap="sq">
              <a:solidFill>
                <a:srgbClr val="2C3680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1658600" y="5887212"/>
            <a:ext cx="548640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450">
                <a:solidFill>
                  <a:srgbClr val="22D3E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WITH MORE TIME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658600" y="6398895"/>
            <a:ext cx="5486400" cy="2036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Calibrate risk probabilities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Handle rare failure classes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Train on real plant data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4558827" y="9040071"/>
            <a:ext cx="9170347" cy="738083"/>
            <a:chOff x="0" y="0"/>
            <a:chExt cx="12227129" cy="984110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11283309" cy="923672"/>
              <a:chOff x="0" y="0"/>
              <a:chExt cx="13636757" cy="111633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3636757" cy="1116330"/>
              </a:xfrm>
              <a:custGeom>
                <a:avLst/>
                <a:gdLst/>
                <a:ahLst/>
                <a:cxnLst/>
                <a:rect r="r" b="b" t="t" l="l"/>
                <a:pathLst>
                  <a:path h="1116330" w="13636757">
                    <a:moveTo>
                      <a:pt x="0" y="223266"/>
                    </a:moveTo>
                    <a:cubicBezTo>
                      <a:pt x="0" y="99949"/>
                      <a:pt x="61389" y="0"/>
                      <a:pt x="137130" y="0"/>
                    </a:cubicBezTo>
                    <a:lnTo>
                      <a:pt x="13499627" y="0"/>
                    </a:lnTo>
                    <a:cubicBezTo>
                      <a:pt x="13575368" y="0"/>
                      <a:pt x="13636757" y="99949"/>
                      <a:pt x="13636757" y="223266"/>
                    </a:cubicBezTo>
                    <a:lnTo>
                      <a:pt x="13636757" y="893064"/>
                    </a:lnTo>
                    <a:cubicBezTo>
                      <a:pt x="13636757" y="1016381"/>
                      <a:pt x="13575368" y="1116330"/>
                      <a:pt x="13499627" y="1116330"/>
                    </a:cubicBezTo>
                    <a:lnTo>
                      <a:pt x="137130" y="1116330"/>
                    </a:lnTo>
                    <a:cubicBezTo>
                      <a:pt x="61389" y="1116330"/>
                      <a:pt x="0" y="1016381"/>
                      <a:pt x="0" y="893064"/>
                    </a:cubicBezTo>
                    <a:close/>
                  </a:path>
                </a:pathLst>
              </a:custGeom>
              <a:solidFill>
                <a:srgbClr val="151C4F"/>
              </a:solidFill>
              <a:ln w="14288" cap="sq">
                <a:solidFill>
                  <a:srgbClr val="2C3680"/>
                </a:solidFill>
                <a:prstDash val="solid"/>
                <a:miter/>
              </a:ln>
            </p:spPr>
          </p:sp>
        </p:grpSp>
        <p:grpSp>
          <p:nvGrpSpPr>
            <p:cNvPr name="Group 32" id="32"/>
            <p:cNvGrpSpPr/>
            <p:nvPr/>
          </p:nvGrpSpPr>
          <p:grpSpPr>
            <a:xfrm rot="0">
              <a:off x="2705126" y="204595"/>
              <a:ext cx="438007" cy="514482"/>
              <a:chOff x="0" y="0"/>
              <a:chExt cx="529365" cy="621792"/>
            </a:xfrm>
          </p:grpSpPr>
          <p:sp>
            <p:nvSpPr>
              <p:cNvPr name="Freeform 33" id="33" descr="quote"/>
              <p:cNvSpPr/>
              <p:nvPr/>
            </p:nvSpPr>
            <p:spPr>
              <a:xfrm flipH="false" flipV="false" rot="0">
                <a:off x="0" y="0"/>
                <a:ext cx="529365" cy="621792"/>
              </a:xfrm>
              <a:custGeom>
                <a:avLst/>
                <a:gdLst/>
                <a:ahLst/>
                <a:cxnLst/>
                <a:rect r="r" b="b" t="t" l="l"/>
                <a:pathLst>
                  <a:path h="621792" w="529365">
                    <a:moveTo>
                      <a:pt x="0" y="0"/>
                    </a:moveTo>
                    <a:lnTo>
                      <a:pt x="529365" y="0"/>
                    </a:lnTo>
                    <a:lnTo>
                      <a:pt x="529365" y="621792"/>
                    </a:lnTo>
                    <a:lnTo>
                      <a:pt x="0" y="62179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l="-8729" t="0" r="-8729" b="0"/>
                </a:stretch>
              </a:blipFill>
            </p:spPr>
          </p:sp>
        </p:grpSp>
        <p:grpSp>
          <p:nvGrpSpPr>
            <p:cNvPr name="Group 34" id="34"/>
            <p:cNvGrpSpPr/>
            <p:nvPr/>
          </p:nvGrpSpPr>
          <p:grpSpPr>
            <a:xfrm rot="0">
              <a:off x="3412826" y="76200"/>
              <a:ext cx="8814303" cy="907910"/>
              <a:chOff x="0" y="0"/>
              <a:chExt cx="10652771" cy="109728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0652771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0652771">
                    <a:moveTo>
                      <a:pt x="0" y="0"/>
                    </a:moveTo>
                    <a:lnTo>
                      <a:pt x="10652771" y="0"/>
                    </a:lnTo>
                    <a:lnTo>
                      <a:pt x="10652771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311447" r="-91072" b="-311447"/>
                </a:stretch>
              </a:blip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47625"/>
                <a:ext cx="10652771" cy="114490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519"/>
                  </a:lnSpc>
                </a:pPr>
                <a:r>
                  <a:rPr lang="en-US" sz="2099" i="true">
                    <a:solidFill>
                      <a:srgbClr val="FFFFFF"/>
                    </a:solidFill>
                    <a:latin typeface="Calibri (MS) Italics"/>
                    <a:ea typeface="Calibri (MS) Italics"/>
                    <a:cs typeface="Calibri (MS) Italics"/>
                    <a:sym typeface="Calibri (MS) Italics"/>
                  </a:rPr>
                  <a:t>Fall seven times, stand up eight.</a:t>
                </a:r>
              </a:p>
              <a:p>
                <a:pPr algn="l">
                  <a:lnSpc>
                    <a:spcPts val="2159"/>
                  </a:lnSpc>
                </a:pPr>
                <a:r>
                  <a:rPr lang="en-US" sz="1799" b="true">
                    <a:solidFill>
                      <a:srgbClr val="22D3EE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JAPANESE PROVERB</a:t>
                </a: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13435" y="978027"/>
            <a:ext cx="1171194" cy="1171194"/>
            <a:chOff x="0" y="0"/>
            <a:chExt cx="1561592" cy="15615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61592" cy="1561592"/>
            </a:xfrm>
            <a:custGeom>
              <a:avLst/>
              <a:gdLst/>
              <a:ahLst/>
              <a:cxnLst/>
              <a:rect r="r" b="b" t="t" l="l"/>
              <a:pathLst>
                <a:path h="1561592" w="1561592">
                  <a:moveTo>
                    <a:pt x="0" y="780796"/>
                  </a:moveTo>
                  <a:cubicBezTo>
                    <a:pt x="0" y="349631"/>
                    <a:pt x="349631" y="0"/>
                    <a:pt x="780796" y="0"/>
                  </a:cubicBezTo>
                  <a:cubicBezTo>
                    <a:pt x="1211961" y="0"/>
                    <a:pt x="1561592" y="349631"/>
                    <a:pt x="1561592" y="780796"/>
                  </a:cubicBezTo>
                  <a:cubicBezTo>
                    <a:pt x="1561592" y="1211961"/>
                    <a:pt x="1211961" y="1561592"/>
                    <a:pt x="780796" y="1561592"/>
                  </a:cubicBezTo>
                  <a:cubicBezTo>
                    <a:pt x="349631" y="1561592"/>
                    <a:pt x="0" y="1211961"/>
                    <a:pt x="0" y="780796"/>
                  </a:cubicBezTo>
                  <a:close/>
                </a:path>
              </a:pathLst>
            </a:custGeom>
            <a:solidFill>
              <a:srgbClr val="22D3EE"/>
            </a:solidFill>
            <a:ln w="19050" cap="sq">
              <a:solidFill>
                <a:srgbClr val="22D3EE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134037" y="1298629"/>
            <a:ext cx="529990" cy="529990"/>
            <a:chOff x="0" y="0"/>
            <a:chExt cx="706653" cy="706653"/>
          </a:xfrm>
        </p:grpSpPr>
        <p:sp>
          <p:nvSpPr>
            <p:cNvPr name="Freeform 6" id="6" descr="FaMapMarkedAlt"/>
            <p:cNvSpPr/>
            <p:nvPr/>
          </p:nvSpPr>
          <p:spPr>
            <a:xfrm flipH="false" flipV="false" rot="0">
              <a:off x="0" y="0"/>
              <a:ext cx="706628" cy="706628"/>
            </a:xfrm>
            <a:custGeom>
              <a:avLst/>
              <a:gdLst/>
              <a:ahLst/>
              <a:cxnLst/>
              <a:rect r="r" b="b" t="t" l="l"/>
              <a:pathLst>
                <a:path h="706628" w="706628">
                  <a:moveTo>
                    <a:pt x="0" y="0"/>
                  </a:moveTo>
                  <a:lnTo>
                    <a:pt x="706628" y="0"/>
                  </a:lnTo>
                  <a:lnTo>
                    <a:pt x="706628" y="706628"/>
                  </a:lnTo>
                  <a:lnTo>
                    <a:pt x="0" y="7066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3" b="-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2331720" y="1014984"/>
            <a:ext cx="14950440" cy="1097280"/>
            <a:chOff x="0" y="0"/>
            <a:chExt cx="1993392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9339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9933920">
                  <a:moveTo>
                    <a:pt x="0" y="0"/>
                  </a:moveTo>
                  <a:lnTo>
                    <a:pt x="19933920" y="0"/>
                  </a:lnTo>
                  <a:lnTo>
                    <a:pt x="199339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5483" r="0" b="-21548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993392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Future Roadmap &amp; Ask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 rot="8760">
            <a:off x="1626841" y="2898267"/>
            <a:ext cx="14988588" cy="0"/>
          </a:xfrm>
          <a:prstGeom prst="line">
            <a:avLst/>
          </a:prstGeom>
          <a:ln cap="rnd" w="19050">
            <a:solidFill>
              <a:srgbClr val="22D3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1087755" y="2459355"/>
            <a:ext cx="896874" cy="896874"/>
            <a:chOff x="0" y="0"/>
            <a:chExt cx="1195832" cy="11958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95832" cy="1195832"/>
            </a:xfrm>
            <a:custGeom>
              <a:avLst/>
              <a:gdLst/>
              <a:ahLst/>
              <a:cxnLst/>
              <a:rect r="r" b="b" t="t" l="l"/>
              <a:pathLst>
                <a:path h="1195832" w="1195832">
                  <a:moveTo>
                    <a:pt x="0" y="597916"/>
                  </a:moveTo>
                  <a:cubicBezTo>
                    <a:pt x="0" y="267716"/>
                    <a:pt x="267716" y="0"/>
                    <a:pt x="597916" y="0"/>
                  </a:cubicBezTo>
                  <a:cubicBezTo>
                    <a:pt x="928116" y="0"/>
                    <a:pt x="1195832" y="267716"/>
                    <a:pt x="1195832" y="597916"/>
                  </a:cubicBezTo>
                  <a:cubicBezTo>
                    <a:pt x="1195832" y="928116"/>
                    <a:pt x="928116" y="1195832"/>
                    <a:pt x="597916" y="1195832"/>
                  </a:cubicBezTo>
                  <a:cubicBezTo>
                    <a:pt x="267716" y="1195832"/>
                    <a:pt x="0" y="928116"/>
                    <a:pt x="0" y="597916"/>
                  </a:cubicBezTo>
                  <a:close/>
                </a:path>
              </a:pathLst>
            </a:custGeom>
            <a:solidFill>
              <a:srgbClr val="22D3EE"/>
            </a:solidFill>
            <a:ln w="19050" cap="sq">
              <a:solidFill>
                <a:srgbClr val="22D3EE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334291" y="2705891"/>
            <a:ext cx="403803" cy="403803"/>
            <a:chOff x="0" y="0"/>
            <a:chExt cx="538404" cy="538404"/>
          </a:xfrm>
        </p:grpSpPr>
        <p:sp>
          <p:nvSpPr>
            <p:cNvPr name="Freeform 14" id="14" descr="FaBolt"/>
            <p:cNvSpPr/>
            <p:nvPr/>
          </p:nvSpPr>
          <p:spPr>
            <a:xfrm flipH="false" flipV="false" rot="0">
              <a:off x="0" y="0"/>
              <a:ext cx="538353" cy="538353"/>
            </a:xfrm>
            <a:custGeom>
              <a:avLst/>
              <a:gdLst/>
              <a:ahLst/>
              <a:cxnLst/>
              <a:rect r="r" b="b" t="t" l="l"/>
              <a:pathLst>
                <a:path h="538353" w="538353">
                  <a:moveTo>
                    <a:pt x="0" y="0"/>
                  </a:moveTo>
                  <a:lnTo>
                    <a:pt x="538353" y="0"/>
                  </a:lnTo>
                  <a:lnTo>
                    <a:pt x="538353" y="538353"/>
                  </a:lnTo>
                  <a:lnTo>
                    <a:pt x="0" y="5383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9" b="-9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2194560" y="2567940"/>
            <a:ext cx="356616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450">
                <a:solidFill>
                  <a:srgbClr val="22D3E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NEXT 30 DAYS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15816" y="3559016"/>
            <a:ext cx="5363528" cy="2551748"/>
            <a:chOff x="0" y="0"/>
            <a:chExt cx="7151370" cy="340233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151370" cy="3402330"/>
            </a:xfrm>
            <a:custGeom>
              <a:avLst/>
              <a:gdLst/>
              <a:ahLst/>
              <a:cxnLst/>
              <a:rect r="r" b="b" t="t" l="l"/>
              <a:pathLst>
                <a:path h="3402330" w="715137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6930644" y="0"/>
                  </a:lnTo>
                  <a:cubicBezTo>
                    <a:pt x="7052563" y="0"/>
                    <a:pt x="7151370" y="98806"/>
                    <a:pt x="7151370" y="220726"/>
                  </a:cubicBezTo>
                  <a:lnTo>
                    <a:pt x="7151370" y="3181604"/>
                  </a:lnTo>
                  <a:cubicBezTo>
                    <a:pt x="7151370" y="3303524"/>
                    <a:pt x="7052563" y="3402330"/>
                    <a:pt x="6930644" y="3402330"/>
                  </a:cubicBezTo>
                  <a:lnTo>
                    <a:pt x="220726" y="3402330"/>
                  </a:lnTo>
                  <a:cubicBezTo>
                    <a:pt x="98806" y="3402330"/>
                    <a:pt x="0" y="3303524"/>
                    <a:pt x="0" y="3181604"/>
                  </a:cubicBezTo>
                  <a:close/>
                </a:path>
              </a:pathLst>
            </a:custGeom>
            <a:solidFill>
              <a:srgbClr val="151C4F"/>
            </a:solidFill>
            <a:ln w="14288" cap="sq">
              <a:solidFill>
                <a:srgbClr val="2C3680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165860" y="3752850"/>
            <a:ext cx="466344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Live sensor ingestion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65860" y="4469130"/>
            <a:ext cx="4663440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C9D3FF"/>
                </a:solidFill>
                <a:latin typeface="Calibri (MS)"/>
                <a:ea typeface="Calibri (MS)"/>
                <a:cs typeface="Calibri (MS)"/>
                <a:sym typeface="Calibri (MS)"/>
              </a:rPr>
              <a:t>MQTT / OPC-UA stream replaces CSV upload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711315" y="2459355"/>
            <a:ext cx="896874" cy="896874"/>
            <a:chOff x="0" y="0"/>
            <a:chExt cx="1195832" cy="119583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95832" cy="1195832"/>
            </a:xfrm>
            <a:custGeom>
              <a:avLst/>
              <a:gdLst/>
              <a:ahLst/>
              <a:cxnLst/>
              <a:rect r="r" b="b" t="t" l="l"/>
              <a:pathLst>
                <a:path h="1195832" w="1195832">
                  <a:moveTo>
                    <a:pt x="0" y="597916"/>
                  </a:moveTo>
                  <a:cubicBezTo>
                    <a:pt x="0" y="267716"/>
                    <a:pt x="267716" y="0"/>
                    <a:pt x="597916" y="0"/>
                  </a:cubicBezTo>
                  <a:cubicBezTo>
                    <a:pt x="928116" y="0"/>
                    <a:pt x="1195832" y="267716"/>
                    <a:pt x="1195832" y="597916"/>
                  </a:cubicBezTo>
                  <a:cubicBezTo>
                    <a:pt x="1195832" y="928116"/>
                    <a:pt x="928116" y="1195832"/>
                    <a:pt x="597916" y="1195832"/>
                  </a:cubicBezTo>
                  <a:cubicBezTo>
                    <a:pt x="267716" y="1195832"/>
                    <a:pt x="0" y="928116"/>
                    <a:pt x="0" y="597916"/>
                  </a:cubicBezTo>
                  <a:close/>
                </a:path>
              </a:pathLst>
            </a:custGeom>
            <a:solidFill>
              <a:srgbClr val="22D3EE"/>
            </a:solidFill>
            <a:ln w="19050" cap="sq">
              <a:solidFill>
                <a:srgbClr val="22D3EE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6957851" y="2705891"/>
            <a:ext cx="403803" cy="403803"/>
            <a:chOff x="0" y="0"/>
            <a:chExt cx="538404" cy="538404"/>
          </a:xfrm>
        </p:grpSpPr>
        <p:sp>
          <p:nvSpPr>
            <p:cNvPr name="Freeform 23" id="23" descr="FaBell"/>
            <p:cNvSpPr/>
            <p:nvPr/>
          </p:nvSpPr>
          <p:spPr>
            <a:xfrm flipH="false" flipV="false" rot="0">
              <a:off x="0" y="0"/>
              <a:ext cx="538353" cy="538353"/>
            </a:xfrm>
            <a:custGeom>
              <a:avLst/>
              <a:gdLst/>
              <a:ahLst/>
              <a:cxnLst/>
              <a:rect r="r" b="b" t="t" l="l"/>
              <a:pathLst>
                <a:path h="538353" w="538353">
                  <a:moveTo>
                    <a:pt x="0" y="0"/>
                  </a:moveTo>
                  <a:lnTo>
                    <a:pt x="538353" y="0"/>
                  </a:lnTo>
                  <a:lnTo>
                    <a:pt x="538353" y="538353"/>
                  </a:lnTo>
                  <a:lnTo>
                    <a:pt x="0" y="5383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9" b="-9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7818120" y="2567940"/>
            <a:ext cx="356616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450">
                <a:solidFill>
                  <a:srgbClr val="22D3E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NEXT 90 DAYS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6439376" y="3559016"/>
            <a:ext cx="5363528" cy="2551748"/>
            <a:chOff x="0" y="0"/>
            <a:chExt cx="7151370" cy="340233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151370" cy="3402330"/>
            </a:xfrm>
            <a:custGeom>
              <a:avLst/>
              <a:gdLst/>
              <a:ahLst/>
              <a:cxnLst/>
              <a:rect r="r" b="b" t="t" l="l"/>
              <a:pathLst>
                <a:path h="3402330" w="715137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6930644" y="0"/>
                  </a:lnTo>
                  <a:cubicBezTo>
                    <a:pt x="7052563" y="0"/>
                    <a:pt x="7151370" y="98806"/>
                    <a:pt x="7151370" y="220726"/>
                  </a:cubicBezTo>
                  <a:lnTo>
                    <a:pt x="7151370" y="3181604"/>
                  </a:lnTo>
                  <a:cubicBezTo>
                    <a:pt x="7151370" y="3303524"/>
                    <a:pt x="7052563" y="3402330"/>
                    <a:pt x="6930644" y="3402330"/>
                  </a:cubicBezTo>
                  <a:lnTo>
                    <a:pt x="220726" y="3402330"/>
                  </a:lnTo>
                  <a:cubicBezTo>
                    <a:pt x="98806" y="3402330"/>
                    <a:pt x="0" y="3303524"/>
                    <a:pt x="0" y="3181604"/>
                  </a:cubicBezTo>
                  <a:close/>
                </a:path>
              </a:pathLst>
            </a:custGeom>
            <a:solidFill>
              <a:srgbClr val="151C4F"/>
            </a:solidFill>
            <a:ln w="14288" cap="sq">
              <a:solidFill>
                <a:srgbClr val="2C3680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6789420" y="3752850"/>
            <a:ext cx="466344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Remaining-life forecast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789420" y="4469130"/>
            <a:ext cx="4663440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C9D3FF"/>
                </a:solidFill>
                <a:latin typeface="Calibri (MS)"/>
                <a:ea typeface="Calibri (MS)"/>
                <a:cs typeface="Calibri (MS)"/>
                <a:sym typeface="Calibri (MS)"/>
              </a:rPr>
              <a:t>Predict days left, alert technicians by SMS or WhatsApp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2334875" y="2459355"/>
            <a:ext cx="896874" cy="896874"/>
            <a:chOff x="0" y="0"/>
            <a:chExt cx="1195832" cy="119583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95832" cy="1195832"/>
            </a:xfrm>
            <a:custGeom>
              <a:avLst/>
              <a:gdLst/>
              <a:ahLst/>
              <a:cxnLst/>
              <a:rect r="r" b="b" t="t" l="l"/>
              <a:pathLst>
                <a:path h="1195832" w="1195832">
                  <a:moveTo>
                    <a:pt x="0" y="597916"/>
                  </a:moveTo>
                  <a:cubicBezTo>
                    <a:pt x="0" y="267716"/>
                    <a:pt x="267716" y="0"/>
                    <a:pt x="597916" y="0"/>
                  </a:cubicBezTo>
                  <a:cubicBezTo>
                    <a:pt x="928116" y="0"/>
                    <a:pt x="1195832" y="267716"/>
                    <a:pt x="1195832" y="597916"/>
                  </a:cubicBezTo>
                  <a:cubicBezTo>
                    <a:pt x="1195832" y="928116"/>
                    <a:pt x="928116" y="1195832"/>
                    <a:pt x="597916" y="1195832"/>
                  </a:cubicBezTo>
                  <a:cubicBezTo>
                    <a:pt x="267716" y="1195832"/>
                    <a:pt x="0" y="928116"/>
                    <a:pt x="0" y="597916"/>
                  </a:cubicBezTo>
                  <a:close/>
                </a:path>
              </a:pathLst>
            </a:custGeom>
            <a:solidFill>
              <a:srgbClr val="22D3EE"/>
            </a:solidFill>
            <a:ln w="19050" cap="sq">
              <a:solidFill>
                <a:srgbClr val="22D3EE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2581411" y="2705891"/>
            <a:ext cx="403803" cy="403803"/>
            <a:chOff x="0" y="0"/>
            <a:chExt cx="538404" cy="538404"/>
          </a:xfrm>
        </p:grpSpPr>
        <p:sp>
          <p:nvSpPr>
            <p:cNvPr name="Freeform 32" id="32" descr="FaIndustry"/>
            <p:cNvSpPr/>
            <p:nvPr/>
          </p:nvSpPr>
          <p:spPr>
            <a:xfrm flipH="false" flipV="false" rot="0">
              <a:off x="0" y="0"/>
              <a:ext cx="538353" cy="538353"/>
            </a:xfrm>
            <a:custGeom>
              <a:avLst/>
              <a:gdLst/>
              <a:ahLst/>
              <a:cxnLst/>
              <a:rect r="r" b="b" t="t" l="l"/>
              <a:pathLst>
                <a:path h="538353" w="538353">
                  <a:moveTo>
                    <a:pt x="0" y="0"/>
                  </a:moveTo>
                  <a:lnTo>
                    <a:pt x="538353" y="0"/>
                  </a:lnTo>
                  <a:lnTo>
                    <a:pt x="538353" y="538353"/>
                  </a:lnTo>
                  <a:lnTo>
                    <a:pt x="0" y="5383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9" b="-9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3441680" y="2567940"/>
            <a:ext cx="356616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450">
                <a:solidFill>
                  <a:srgbClr val="22D3E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NEXT 6 MONTHS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2062936" y="3559016"/>
            <a:ext cx="5363528" cy="2551748"/>
            <a:chOff x="0" y="0"/>
            <a:chExt cx="7151370" cy="340233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151370" cy="3402330"/>
            </a:xfrm>
            <a:custGeom>
              <a:avLst/>
              <a:gdLst/>
              <a:ahLst/>
              <a:cxnLst/>
              <a:rect r="r" b="b" t="t" l="l"/>
              <a:pathLst>
                <a:path h="3402330" w="715137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6930644" y="0"/>
                  </a:lnTo>
                  <a:cubicBezTo>
                    <a:pt x="7052563" y="0"/>
                    <a:pt x="7151370" y="98806"/>
                    <a:pt x="7151370" y="220726"/>
                  </a:cubicBezTo>
                  <a:lnTo>
                    <a:pt x="7151370" y="3181604"/>
                  </a:lnTo>
                  <a:cubicBezTo>
                    <a:pt x="7151370" y="3303524"/>
                    <a:pt x="7052563" y="3402330"/>
                    <a:pt x="6930644" y="3402330"/>
                  </a:cubicBezTo>
                  <a:lnTo>
                    <a:pt x="220726" y="3402330"/>
                  </a:lnTo>
                  <a:cubicBezTo>
                    <a:pt x="98806" y="3402330"/>
                    <a:pt x="0" y="3303524"/>
                    <a:pt x="0" y="3181604"/>
                  </a:cubicBezTo>
                  <a:close/>
                </a:path>
              </a:pathLst>
            </a:custGeom>
            <a:solidFill>
              <a:srgbClr val="151C4F"/>
            </a:solidFill>
            <a:ln w="14288" cap="sq">
              <a:solidFill>
                <a:srgbClr val="2C3680"/>
              </a:solidFill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12412980" y="3752850"/>
            <a:ext cx="466344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Real plant pilot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412980" y="4469130"/>
            <a:ext cx="4663440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C9D3FF"/>
                </a:solidFill>
                <a:latin typeface="Calibri (MS)"/>
                <a:ea typeface="Calibri (MS)"/>
                <a:cs typeface="Calibri (MS)"/>
                <a:sym typeface="Calibri (MS)"/>
              </a:rPr>
              <a:t>Retrain on plant data and monitor model drift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4248388" y="6453664"/>
            <a:ext cx="13466037" cy="2071688"/>
            <a:chOff x="0" y="0"/>
            <a:chExt cx="17954716" cy="2762250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11175943" cy="2762250"/>
              <a:chOff x="0" y="0"/>
              <a:chExt cx="11175943" cy="276225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1175943" cy="2762250"/>
              </a:xfrm>
              <a:custGeom>
                <a:avLst/>
                <a:gdLst/>
                <a:ahLst/>
                <a:cxnLst/>
                <a:rect r="r" b="b" t="t" l="l"/>
                <a:pathLst>
                  <a:path h="2762250" w="11175943">
                    <a:moveTo>
                      <a:pt x="0" y="220980"/>
                    </a:moveTo>
                    <a:cubicBezTo>
                      <a:pt x="0" y="98933"/>
                      <a:pt x="81586" y="0"/>
                      <a:pt x="182234" y="0"/>
                    </a:cubicBezTo>
                    <a:lnTo>
                      <a:pt x="10993709" y="0"/>
                    </a:lnTo>
                    <a:cubicBezTo>
                      <a:pt x="11094356" y="0"/>
                      <a:pt x="11175943" y="98933"/>
                      <a:pt x="11175943" y="220980"/>
                    </a:cubicBezTo>
                    <a:lnTo>
                      <a:pt x="11175943" y="2541270"/>
                    </a:lnTo>
                    <a:cubicBezTo>
                      <a:pt x="11175943" y="2663317"/>
                      <a:pt x="11094356" y="2762250"/>
                      <a:pt x="10993709" y="2762250"/>
                    </a:cubicBezTo>
                    <a:lnTo>
                      <a:pt x="182234" y="2762250"/>
                    </a:lnTo>
                    <a:cubicBezTo>
                      <a:pt x="81586" y="2762250"/>
                      <a:pt x="0" y="2663317"/>
                      <a:pt x="0" y="2541270"/>
                    </a:cubicBezTo>
                    <a:close/>
                  </a:path>
                </a:pathLst>
              </a:custGeom>
              <a:solidFill>
                <a:srgbClr val="151C4F"/>
              </a:solidFill>
              <a:ln w="14288" cap="sq">
                <a:solidFill>
                  <a:srgbClr val="2C3680"/>
                </a:solidFill>
                <a:prstDash val="solid"/>
                <a:miter/>
              </a:ln>
            </p:spPr>
          </p:sp>
        </p:grpSp>
        <p:sp>
          <p:nvSpPr>
            <p:cNvPr name="TextBox 41" id="41"/>
            <p:cNvSpPr txBox="true"/>
            <p:nvPr/>
          </p:nvSpPr>
          <p:spPr>
            <a:xfrm rot="0">
              <a:off x="460297" y="190881"/>
              <a:ext cx="10255349" cy="393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b="true" sz="1800" spc="450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SUPPORT WE'D LOVE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460297" y="830199"/>
              <a:ext cx="10556977" cy="971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07194" indent="-203597" lvl="1">
                <a:lnSpc>
                  <a:spcPts val="2700"/>
                </a:lnSpc>
                <a:buFont typeface="Arial"/>
                <a:buChar char="•"/>
              </a:pPr>
              <a:r>
                <a:rPr lang="en-US" sz="22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Mentor from maintenance or industrial IoT</a:t>
              </a:r>
            </a:p>
            <a:p>
              <a:pPr algn="l" marL="407194" indent="-203597" lvl="1">
                <a:lnSpc>
                  <a:spcPts val="2700"/>
                </a:lnSpc>
                <a:buFont typeface="Arial"/>
                <a:buChar char="•"/>
              </a:pPr>
              <a:r>
                <a:rPr lang="en-US" sz="22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Access to a pilot plant's real sensor logs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11922158" y="190881"/>
              <a:ext cx="6032558" cy="393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b="true" sz="1800" spc="450">
                  <a:solidFill>
                    <a:srgbClr val="0A0F2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ASK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18102" y="8958739"/>
            <a:ext cx="17283919" cy="837248"/>
            <a:chOff x="0" y="0"/>
            <a:chExt cx="23045225" cy="1116330"/>
          </a:xfrm>
        </p:grpSpPr>
        <p:grpSp>
          <p:nvGrpSpPr>
            <p:cNvPr name="Group 45" id="45"/>
            <p:cNvGrpSpPr/>
            <p:nvPr/>
          </p:nvGrpSpPr>
          <p:grpSpPr>
            <a:xfrm rot="0">
              <a:off x="0" y="0"/>
              <a:ext cx="23045225" cy="1116330"/>
              <a:chOff x="0" y="0"/>
              <a:chExt cx="23045225" cy="111633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23045224" cy="1116330"/>
              </a:xfrm>
              <a:custGeom>
                <a:avLst/>
                <a:gdLst/>
                <a:ahLst/>
                <a:cxnLst/>
                <a:rect r="r" b="b" t="t" l="l"/>
                <a:pathLst>
                  <a:path h="1116330" w="23045224">
                    <a:moveTo>
                      <a:pt x="0" y="223266"/>
                    </a:moveTo>
                    <a:cubicBezTo>
                      <a:pt x="0" y="99949"/>
                      <a:pt x="103743" y="0"/>
                      <a:pt x="231741" y="0"/>
                    </a:cubicBezTo>
                    <a:lnTo>
                      <a:pt x="22813483" y="0"/>
                    </a:lnTo>
                    <a:cubicBezTo>
                      <a:pt x="22941482" y="0"/>
                      <a:pt x="23045224" y="99949"/>
                      <a:pt x="23045224" y="223266"/>
                    </a:cubicBezTo>
                    <a:lnTo>
                      <a:pt x="23045224" y="893064"/>
                    </a:lnTo>
                    <a:cubicBezTo>
                      <a:pt x="23045224" y="1016381"/>
                      <a:pt x="22941482" y="1116330"/>
                      <a:pt x="22813483" y="1116330"/>
                    </a:cubicBezTo>
                    <a:lnTo>
                      <a:pt x="231741" y="1116330"/>
                    </a:lnTo>
                    <a:cubicBezTo>
                      <a:pt x="103743" y="1116330"/>
                      <a:pt x="0" y="1016381"/>
                      <a:pt x="0" y="893064"/>
                    </a:cubicBezTo>
                    <a:close/>
                  </a:path>
                </a:pathLst>
              </a:custGeom>
              <a:solidFill>
                <a:srgbClr val="151C4F"/>
              </a:solidFill>
              <a:ln w="14288" cap="sq">
                <a:solidFill>
                  <a:srgbClr val="2C3680"/>
                </a:solidFill>
                <a:prstDash val="solid"/>
                <a:miter/>
              </a:ln>
            </p:spPr>
          </p:sp>
        </p:grpSp>
        <p:grpSp>
          <p:nvGrpSpPr>
            <p:cNvPr name="Group 47" id="47"/>
            <p:cNvGrpSpPr/>
            <p:nvPr/>
          </p:nvGrpSpPr>
          <p:grpSpPr>
            <a:xfrm rot="0">
              <a:off x="484442" y="247269"/>
              <a:ext cx="645396" cy="621792"/>
              <a:chOff x="0" y="0"/>
              <a:chExt cx="645396" cy="621792"/>
            </a:xfrm>
          </p:grpSpPr>
          <p:sp>
            <p:nvSpPr>
              <p:cNvPr name="Freeform 48" id="48" descr="quote"/>
              <p:cNvSpPr/>
              <p:nvPr/>
            </p:nvSpPr>
            <p:spPr>
              <a:xfrm flipH="false" flipV="false" rot="0">
                <a:off x="0" y="0"/>
                <a:ext cx="645396" cy="621792"/>
              </a:xfrm>
              <a:custGeom>
                <a:avLst/>
                <a:gdLst/>
                <a:ahLst/>
                <a:cxnLst/>
                <a:rect r="r" b="b" t="t" l="l"/>
                <a:pathLst>
                  <a:path h="621792" w="645396">
                    <a:moveTo>
                      <a:pt x="0" y="0"/>
                    </a:moveTo>
                    <a:lnTo>
                      <a:pt x="645396" y="0"/>
                    </a:lnTo>
                    <a:lnTo>
                      <a:pt x="645396" y="621792"/>
                    </a:lnTo>
                    <a:lnTo>
                      <a:pt x="0" y="62179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0" t="-1898" r="0" b="-1898"/>
                </a:stretch>
              </a:blipFill>
            </p:spPr>
          </p:sp>
        </p:grpSp>
        <p:grpSp>
          <p:nvGrpSpPr>
            <p:cNvPr name="Group 49" id="49"/>
            <p:cNvGrpSpPr/>
            <p:nvPr/>
          </p:nvGrpSpPr>
          <p:grpSpPr>
            <a:xfrm rot="0">
              <a:off x="1528465" y="9525"/>
              <a:ext cx="21127228" cy="1097280"/>
              <a:chOff x="0" y="0"/>
              <a:chExt cx="21127228" cy="109728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21127228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21127228">
                    <a:moveTo>
                      <a:pt x="0" y="0"/>
                    </a:moveTo>
                    <a:lnTo>
                      <a:pt x="21127228" y="0"/>
                    </a:lnTo>
                    <a:lnTo>
                      <a:pt x="21127228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311447" r="3657" b="-311447"/>
                </a:stretch>
              </a:blip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47625"/>
                <a:ext cx="21127228" cy="114490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520"/>
                  </a:lnSpc>
                </a:pPr>
                <a:r>
                  <a:rPr lang="en-US" sz="2100" i="true">
                    <a:solidFill>
                      <a:srgbClr val="FFFFFF"/>
                    </a:solidFill>
                    <a:latin typeface="Calibri (MS) Italics"/>
                    <a:ea typeface="Calibri (MS) Italics"/>
                    <a:cs typeface="Calibri (MS) Italics"/>
                    <a:sym typeface="Calibri (MS) Italics"/>
                  </a:rPr>
                  <a:t>The best way to predict the future is to invent it.</a:t>
                </a:r>
              </a:p>
              <a:p>
                <a:pPr algn="l">
                  <a:lnSpc>
                    <a:spcPts val="2160"/>
                  </a:lnSpc>
                </a:pPr>
                <a:r>
                  <a:rPr lang="en-US" sz="1800" b="true">
                    <a:solidFill>
                      <a:srgbClr val="22D3EE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ALAN KAY</a:t>
                </a:r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2960" y="2743200"/>
            <a:ext cx="9052560" cy="1508760"/>
            <a:chOff x="0" y="0"/>
            <a:chExt cx="12070080" cy="20116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0700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12070080">
                  <a:moveTo>
                    <a:pt x="0" y="0"/>
                  </a:moveTo>
                  <a:lnTo>
                    <a:pt x="12070080" y="0"/>
                  </a:lnTo>
                  <a:lnTo>
                    <a:pt x="120700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12070080" cy="2030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Thank You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22960" y="4311015"/>
            <a:ext cx="9601200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22D3EE"/>
                </a:solidFill>
                <a:latin typeface="Cambria Bold"/>
                <a:ea typeface="Cambria Bold"/>
                <a:cs typeface="Cambria Bold"/>
                <a:sym typeface="Cambria Bold"/>
              </a:rPr>
              <a:t>SENTINEL: Predict. Explain. Prevent.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2960" y="5351145"/>
            <a:ext cx="960120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Thank you, judges, mentors and organizers</a:t>
            </a: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Explainable AI that keeps humans in charge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965656" y="2118836"/>
            <a:ext cx="6501956" cy="5363528"/>
            <a:chOff x="0" y="0"/>
            <a:chExt cx="8669274" cy="71513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669274" cy="7151370"/>
            </a:xfrm>
            <a:custGeom>
              <a:avLst/>
              <a:gdLst/>
              <a:ahLst/>
              <a:cxnLst/>
              <a:rect r="r" b="b" t="t" l="l"/>
              <a:pathLst>
                <a:path h="7151370" w="8669274">
                  <a:moveTo>
                    <a:pt x="0" y="220091"/>
                  </a:moveTo>
                  <a:cubicBezTo>
                    <a:pt x="0" y="98552"/>
                    <a:pt x="98552" y="0"/>
                    <a:pt x="220091" y="0"/>
                  </a:cubicBezTo>
                  <a:lnTo>
                    <a:pt x="8449183" y="0"/>
                  </a:lnTo>
                  <a:cubicBezTo>
                    <a:pt x="8570722" y="0"/>
                    <a:pt x="8669274" y="98552"/>
                    <a:pt x="8669274" y="220091"/>
                  </a:cubicBezTo>
                  <a:lnTo>
                    <a:pt x="8669274" y="6931279"/>
                  </a:lnTo>
                  <a:cubicBezTo>
                    <a:pt x="8669274" y="7052818"/>
                    <a:pt x="8570722" y="7151370"/>
                    <a:pt x="8449183" y="7151370"/>
                  </a:cubicBezTo>
                  <a:lnTo>
                    <a:pt x="220091" y="7151370"/>
                  </a:lnTo>
                  <a:cubicBezTo>
                    <a:pt x="98552" y="7151370"/>
                    <a:pt x="0" y="7052818"/>
                    <a:pt x="0" y="6931279"/>
                  </a:cubicBezTo>
                  <a:close/>
                </a:path>
              </a:pathLst>
            </a:custGeom>
            <a:solidFill>
              <a:srgbClr val="151C4F"/>
            </a:solidFill>
            <a:ln w="14288" cap="sq">
              <a:solidFill>
                <a:srgbClr val="2C368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443335" y="2527935"/>
            <a:ext cx="1116330" cy="1116330"/>
            <a:chOff x="0" y="0"/>
            <a:chExt cx="1488440" cy="14884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88440" cy="1488440"/>
            </a:xfrm>
            <a:custGeom>
              <a:avLst/>
              <a:gdLst/>
              <a:ahLst/>
              <a:cxnLst/>
              <a:rect r="r" b="b" t="t" l="l"/>
              <a:pathLst>
                <a:path h="1488440" w="1488440">
                  <a:moveTo>
                    <a:pt x="0" y="744220"/>
                  </a:moveTo>
                  <a:cubicBezTo>
                    <a:pt x="0" y="333248"/>
                    <a:pt x="333248" y="0"/>
                    <a:pt x="744220" y="0"/>
                  </a:cubicBezTo>
                  <a:cubicBezTo>
                    <a:pt x="1155192" y="0"/>
                    <a:pt x="1488440" y="333248"/>
                    <a:pt x="1488440" y="744220"/>
                  </a:cubicBezTo>
                  <a:cubicBezTo>
                    <a:pt x="1488440" y="1155192"/>
                    <a:pt x="1155192" y="1488440"/>
                    <a:pt x="744220" y="1488440"/>
                  </a:cubicBezTo>
                  <a:cubicBezTo>
                    <a:pt x="333248" y="1488440"/>
                    <a:pt x="0" y="1155192"/>
                    <a:pt x="0" y="744220"/>
                  </a:cubicBezTo>
                  <a:close/>
                </a:path>
              </a:pathLst>
            </a:custGeom>
            <a:solidFill>
              <a:srgbClr val="22D3EE"/>
            </a:solidFill>
            <a:ln w="19050" cap="sq">
              <a:solidFill>
                <a:srgbClr val="22D3EE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1749126" y="2833726"/>
            <a:ext cx="504749" cy="504749"/>
            <a:chOff x="0" y="0"/>
            <a:chExt cx="672998" cy="672998"/>
          </a:xfrm>
        </p:grpSpPr>
        <p:sp>
          <p:nvSpPr>
            <p:cNvPr name="Freeform 13" id="13" descr="FaThumbsUp"/>
            <p:cNvSpPr/>
            <p:nvPr/>
          </p:nvSpPr>
          <p:spPr>
            <a:xfrm flipH="false" flipV="false" rot="0">
              <a:off x="0" y="0"/>
              <a:ext cx="672973" cy="672973"/>
            </a:xfrm>
            <a:custGeom>
              <a:avLst/>
              <a:gdLst/>
              <a:ahLst/>
              <a:cxnLst/>
              <a:rect r="r" b="b" t="t" l="l"/>
              <a:pathLst>
                <a:path h="672973" w="672973">
                  <a:moveTo>
                    <a:pt x="0" y="0"/>
                  </a:moveTo>
                  <a:lnTo>
                    <a:pt x="672973" y="0"/>
                  </a:lnTo>
                  <a:lnTo>
                    <a:pt x="672973" y="672973"/>
                  </a:lnTo>
                  <a:lnTo>
                    <a:pt x="0" y="6729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3" b="-3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824460" y="2540508"/>
            <a:ext cx="4389120" cy="42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450">
                <a:solidFill>
                  <a:srgbClr val="22D3E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TEAM LEAD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824460" y="2998470"/>
            <a:ext cx="4389120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Deepika 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521440" y="4526280"/>
            <a:ext cx="521208" cy="521208"/>
            <a:chOff x="0" y="0"/>
            <a:chExt cx="694944" cy="694944"/>
          </a:xfrm>
        </p:grpSpPr>
        <p:sp>
          <p:nvSpPr>
            <p:cNvPr name="Freeform 17" id="17" descr="FaEnvelope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253874" y="4443984"/>
            <a:ext cx="4800600" cy="685800"/>
            <a:chOff x="0" y="0"/>
            <a:chExt cx="6400800" cy="914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400800" cy="914400"/>
            </a:xfrm>
            <a:custGeom>
              <a:avLst/>
              <a:gdLst/>
              <a:ahLst/>
              <a:cxnLst/>
              <a:rect r="r" b="b" t="t" l="l"/>
              <a:pathLst>
                <a:path h="91440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64008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C9D3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deepika.s.2024.aids@rajalakshmi.edu.in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521440" y="5692140"/>
            <a:ext cx="521208" cy="521208"/>
            <a:chOff x="0" y="0"/>
            <a:chExt cx="694944" cy="694944"/>
          </a:xfrm>
        </p:grpSpPr>
        <p:sp>
          <p:nvSpPr>
            <p:cNvPr name="Freeform 22" id="22" descr="FaGithub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344400" y="5623560"/>
            <a:ext cx="4800600" cy="685800"/>
            <a:chOff x="0" y="0"/>
            <a:chExt cx="6400800" cy="914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400800" cy="914400"/>
            </a:xfrm>
            <a:custGeom>
              <a:avLst/>
              <a:gdLst/>
              <a:ahLst/>
              <a:cxnLst/>
              <a:rect r="r" b="b" t="t" l="l"/>
              <a:pathLst>
                <a:path h="91440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64008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u="sng">
                  <a:solidFill>
                    <a:srgbClr val="C9D3FF"/>
                  </a:solidFill>
                  <a:latin typeface="Calibri (MS)"/>
                  <a:ea typeface="Calibri (MS)"/>
                  <a:cs typeface="Calibri (MS)"/>
                  <a:sym typeface="Calibri (MS)"/>
                  <a:hlinkClick r:id="rId8" tooltip="https://github.com/deeps-2007/Sentinel-explainable-predictive-maintenance"/>
                </a:rPr>
                <a:t>Add GitHub repo link or QR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15816" y="8016716"/>
            <a:ext cx="16651796" cy="1317308"/>
            <a:chOff x="0" y="0"/>
            <a:chExt cx="22202394" cy="175641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202394" cy="1756410"/>
            </a:xfrm>
            <a:custGeom>
              <a:avLst/>
              <a:gdLst/>
              <a:ahLst/>
              <a:cxnLst/>
              <a:rect r="r" b="b" t="t" l="l"/>
              <a:pathLst>
                <a:path h="1756410" w="22202394">
                  <a:moveTo>
                    <a:pt x="0" y="221869"/>
                  </a:moveTo>
                  <a:cubicBezTo>
                    <a:pt x="0" y="99314"/>
                    <a:pt x="99314" y="0"/>
                    <a:pt x="221869" y="0"/>
                  </a:cubicBezTo>
                  <a:lnTo>
                    <a:pt x="21980525" y="0"/>
                  </a:lnTo>
                  <a:cubicBezTo>
                    <a:pt x="22103080" y="0"/>
                    <a:pt x="22202394" y="99314"/>
                    <a:pt x="22202394" y="221869"/>
                  </a:cubicBezTo>
                  <a:lnTo>
                    <a:pt x="22202394" y="1534541"/>
                  </a:lnTo>
                  <a:cubicBezTo>
                    <a:pt x="22202394" y="1657096"/>
                    <a:pt x="22103080" y="1756410"/>
                    <a:pt x="21980525" y="1756410"/>
                  </a:cubicBezTo>
                  <a:lnTo>
                    <a:pt x="221869" y="1756410"/>
                  </a:lnTo>
                  <a:cubicBezTo>
                    <a:pt x="99314" y="1756410"/>
                    <a:pt x="0" y="1657096"/>
                    <a:pt x="0" y="1534541"/>
                  </a:cubicBezTo>
                  <a:close/>
                </a:path>
              </a:pathLst>
            </a:custGeom>
            <a:solidFill>
              <a:srgbClr val="151C4F"/>
            </a:solidFill>
            <a:ln w="14288" cap="sq">
              <a:solidFill>
                <a:srgbClr val="2C3680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165860" y="8442198"/>
            <a:ext cx="466344" cy="466344"/>
            <a:chOff x="0" y="0"/>
            <a:chExt cx="621792" cy="621792"/>
          </a:xfrm>
        </p:grpSpPr>
        <p:sp>
          <p:nvSpPr>
            <p:cNvPr name="Freeform 29" id="29" descr="quote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993392" y="8023860"/>
            <a:ext cx="15265908" cy="1303020"/>
            <a:chOff x="0" y="0"/>
            <a:chExt cx="20354544" cy="17373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0354544" cy="1737360"/>
            </a:xfrm>
            <a:custGeom>
              <a:avLst/>
              <a:gdLst/>
              <a:ahLst/>
              <a:cxnLst/>
              <a:rect r="r" b="b" t="t" l="l"/>
              <a:pathLst>
                <a:path h="1737360" w="20354544">
                  <a:moveTo>
                    <a:pt x="0" y="0"/>
                  </a:moveTo>
                  <a:lnTo>
                    <a:pt x="20354544" y="0"/>
                  </a:lnTo>
                  <a:lnTo>
                    <a:pt x="20354544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8282" r="0" b="-17828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20354544" cy="1794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i="true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End with confidence: this is your last impression on the judges.</a:t>
              </a:r>
            </a:p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ORGANIZER'S TIP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DAHXY37HV2k</dc:identifier>
  <dcterms:modified xsi:type="dcterms:W3CDTF">2011-08-01T06:04:30Z</dcterms:modified>
  <cp:revision>1</cp:revision>
  <dc:title>Sentinel_Hackathon_Pitch.pptx</dc:title>
</cp:coreProperties>
</file>